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8" r:id="rId529"/>
    <p:sldId id="779" r:id="rId5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1" Type="http://schemas.openxmlformats.org/officeDocument/2006/relationships/slide" Target="slides/slide100.xml"/><Relationship Id="rId112" Type="http://schemas.openxmlformats.org/officeDocument/2006/relationships/slide" Target="slides/slide101.xml"/><Relationship Id="rId113" Type="http://schemas.openxmlformats.org/officeDocument/2006/relationships/slide" Target="slides/slide102.xml"/><Relationship Id="rId114" Type="http://schemas.openxmlformats.org/officeDocument/2006/relationships/slide" Target="slides/slide103.xml"/><Relationship Id="rId115" Type="http://schemas.openxmlformats.org/officeDocument/2006/relationships/slide" Target="slides/slide104.xml"/><Relationship Id="rId116" Type="http://schemas.openxmlformats.org/officeDocument/2006/relationships/slide" Target="slides/slide105.xml"/><Relationship Id="rId117" Type="http://schemas.openxmlformats.org/officeDocument/2006/relationships/slide" Target="slides/slide106.xml"/><Relationship Id="rId118" Type="http://schemas.openxmlformats.org/officeDocument/2006/relationships/slide" Target="slides/slide107.xml"/><Relationship Id="rId119" Type="http://schemas.openxmlformats.org/officeDocument/2006/relationships/slide" Target="slides/slide108.xml"/><Relationship Id="rId120" Type="http://schemas.openxmlformats.org/officeDocument/2006/relationships/slide" Target="slides/slide109.xml"/><Relationship Id="rId121" Type="http://schemas.openxmlformats.org/officeDocument/2006/relationships/slide" Target="slides/slide110.xml"/><Relationship Id="rId122" Type="http://schemas.openxmlformats.org/officeDocument/2006/relationships/slide" Target="slides/slide111.xml"/><Relationship Id="rId123" Type="http://schemas.openxmlformats.org/officeDocument/2006/relationships/slide" Target="slides/slide112.xml"/><Relationship Id="rId124" Type="http://schemas.openxmlformats.org/officeDocument/2006/relationships/slide" Target="slides/slide113.xml"/><Relationship Id="rId125" Type="http://schemas.openxmlformats.org/officeDocument/2006/relationships/slide" Target="slides/slide114.xml"/><Relationship Id="rId126" Type="http://schemas.openxmlformats.org/officeDocument/2006/relationships/slide" Target="slides/slide115.xml"/><Relationship Id="rId127" Type="http://schemas.openxmlformats.org/officeDocument/2006/relationships/slide" Target="slides/slide116.xml"/><Relationship Id="rId128" Type="http://schemas.openxmlformats.org/officeDocument/2006/relationships/slide" Target="slides/slide117.xml"/><Relationship Id="rId129" Type="http://schemas.openxmlformats.org/officeDocument/2006/relationships/slide" Target="slides/slide118.xml"/><Relationship Id="rId130" Type="http://schemas.openxmlformats.org/officeDocument/2006/relationships/slide" Target="slides/slide119.xml"/><Relationship Id="rId131" Type="http://schemas.openxmlformats.org/officeDocument/2006/relationships/slide" Target="slides/slide120.xml"/><Relationship Id="rId132" Type="http://schemas.openxmlformats.org/officeDocument/2006/relationships/slide" Target="slides/slide121.xml"/><Relationship Id="rId133" Type="http://schemas.openxmlformats.org/officeDocument/2006/relationships/slide" Target="slides/slide122.xml"/><Relationship Id="rId134" Type="http://schemas.openxmlformats.org/officeDocument/2006/relationships/slide" Target="slides/slide123.xml"/><Relationship Id="rId135" Type="http://schemas.openxmlformats.org/officeDocument/2006/relationships/slide" Target="slides/slide124.xml"/><Relationship Id="rId136" Type="http://schemas.openxmlformats.org/officeDocument/2006/relationships/slide" Target="slides/slide125.xml"/><Relationship Id="rId137" Type="http://schemas.openxmlformats.org/officeDocument/2006/relationships/slide" Target="slides/slide126.xml"/><Relationship Id="rId138" Type="http://schemas.openxmlformats.org/officeDocument/2006/relationships/slide" Target="slides/slide127.xml"/><Relationship Id="rId139" Type="http://schemas.openxmlformats.org/officeDocument/2006/relationships/slide" Target="slides/slide128.xml"/><Relationship Id="rId140" Type="http://schemas.openxmlformats.org/officeDocument/2006/relationships/slide" Target="slides/slide129.xml"/><Relationship Id="rId141" Type="http://schemas.openxmlformats.org/officeDocument/2006/relationships/slide" Target="slides/slide130.xml"/><Relationship Id="rId142" Type="http://schemas.openxmlformats.org/officeDocument/2006/relationships/slide" Target="slides/slide131.xml"/><Relationship Id="rId143" Type="http://schemas.openxmlformats.org/officeDocument/2006/relationships/slide" Target="slides/slide132.xml"/><Relationship Id="rId144" Type="http://schemas.openxmlformats.org/officeDocument/2006/relationships/slide" Target="slides/slide133.xml"/><Relationship Id="rId145" Type="http://schemas.openxmlformats.org/officeDocument/2006/relationships/slide" Target="slides/slide134.xml"/><Relationship Id="rId146" Type="http://schemas.openxmlformats.org/officeDocument/2006/relationships/slide" Target="slides/slide135.xml"/><Relationship Id="rId147" Type="http://schemas.openxmlformats.org/officeDocument/2006/relationships/slide" Target="slides/slide136.xml"/><Relationship Id="rId148" Type="http://schemas.openxmlformats.org/officeDocument/2006/relationships/slide" Target="slides/slide137.xml"/><Relationship Id="rId149" Type="http://schemas.openxmlformats.org/officeDocument/2006/relationships/slide" Target="slides/slide138.xml"/><Relationship Id="rId150" Type="http://schemas.openxmlformats.org/officeDocument/2006/relationships/slide" Target="slides/slide139.xml"/><Relationship Id="rId151" Type="http://schemas.openxmlformats.org/officeDocument/2006/relationships/slide" Target="slides/slide140.xml"/><Relationship Id="rId152" Type="http://schemas.openxmlformats.org/officeDocument/2006/relationships/slide" Target="slides/slide141.xml"/><Relationship Id="rId153" Type="http://schemas.openxmlformats.org/officeDocument/2006/relationships/slide" Target="slides/slide142.xml"/><Relationship Id="rId154" Type="http://schemas.openxmlformats.org/officeDocument/2006/relationships/slide" Target="slides/slide143.xml"/><Relationship Id="rId155" Type="http://schemas.openxmlformats.org/officeDocument/2006/relationships/slide" Target="slides/slide144.xml"/><Relationship Id="rId156" Type="http://schemas.openxmlformats.org/officeDocument/2006/relationships/slide" Target="slides/slide145.xml"/><Relationship Id="rId157" Type="http://schemas.openxmlformats.org/officeDocument/2006/relationships/slide" Target="slides/slide146.xml"/><Relationship Id="rId158" Type="http://schemas.openxmlformats.org/officeDocument/2006/relationships/slide" Target="slides/slide147.xml"/><Relationship Id="rId159" Type="http://schemas.openxmlformats.org/officeDocument/2006/relationships/slide" Target="slides/slide148.xml"/><Relationship Id="rId160" Type="http://schemas.openxmlformats.org/officeDocument/2006/relationships/slide" Target="slides/slide149.xml"/><Relationship Id="rId161" Type="http://schemas.openxmlformats.org/officeDocument/2006/relationships/slide" Target="slides/slide150.xml"/><Relationship Id="rId162" Type="http://schemas.openxmlformats.org/officeDocument/2006/relationships/slide" Target="slides/slide151.xml"/><Relationship Id="rId163" Type="http://schemas.openxmlformats.org/officeDocument/2006/relationships/slide" Target="slides/slide152.xml"/><Relationship Id="rId164" Type="http://schemas.openxmlformats.org/officeDocument/2006/relationships/slide" Target="slides/slide153.xml"/><Relationship Id="rId165" Type="http://schemas.openxmlformats.org/officeDocument/2006/relationships/slide" Target="slides/slide154.xml"/><Relationship Id="rId166" Type="http://schemas.openxmlformats.org/officeDocument/2006/relationships/slide" Target="slides/slide155.xml"/><Relationship Id="rId167" Type="http://schemas.openxmlformats.org/officeDocument/2006/relationships/slide" Target="slides/slide156.xml"/><Relationship Id="rId168" Type="http://schemas.openxmlformats.org/officeDocument/2006/relationships/slide" Target="slides/slide157.xml"/><Relationship Id="rId169" Type="http://schemas.openxmlformats.org/officeDocument/2006/relationships/slide" Target="slides/slide158.xml"/><Relationship Id="rId170" Type="http://schemas.openxmlformats.org/officeDocument/2006/relationships/slide" Target="slides/slide159.xml"/><Relationship Id="rId171" Type="http://schemas.openxmlformats.org/officeDocument/2006/relationships/slide" Target="slides/slide160.xml"/><Relationship Id="rId172" Type="http://schemas.openxmlformats.org/officeDocument/2006/relationships/slide" Target="slides/slide161.xml"/><Relationship Id="rId173" Type="http://schemas.openxmlformats.org/officeDocument/2006/relationships/slide" Target="slides/slide162.xml"/><Relationship Id="rId174" Type="http://schemas.openxmlformats.org/officeDocument/2006/relationships/slide" Target="slides/slide163.xml"/><Relationship Id="rId175" Type="http://schemas.openxmlformats.org/officeDocument/2006/relationships/slide" Target="slides/slide164.xml"/><Relationship Id="rId176" Type="http://schemas.openxmlformats.org/officeDocument/2006/relationships/slide" Target="slides/slide165.xml"/><Relationship Id="rId177" Type="http://schemas.openxmlformats.org/officeDocument/2006/relationships/slide" Target="slides/slide166.xml"/><Relationship Id="rId178" Type="http://schemas.openxmlformats.org/officeDocument/2006/relationships/slide" Target="slides/slide167.xml"/><Relationship Id="rId179" Type="http://schemas.openxmlformats.org/officeDocument/2006/relationships/slide" Target="slides/slide168.xml"/><Relationship Id="rId180" Type="http://schemas.openxmlformats.org/officeDocument/2006/relationships/slide" Target="slides/slide169.xml"/><Relationship Id="rId181" Type="http://schemas.openxmlformats.org/officeDocument/2006/relationships/slide" Target="slides/slide170.xml"/><Relationship Id="rId182" Type="http://schemas.openxmlformats.org/officeDocument/2006/relationships/slide" Target="slides/slide171.xml"/><Relationship Id="rId183" Type="http://schemas.openxmlformats.org/officeDocument/2006/relationships/slide" Target="slides/slide172.xml"/><Relationship Id="rId184" Type="http://schemas.openxmlformats.org/officeDocument/2006/relationships/slide" Target="slides/slide173.xml"/><Relationship Id="rId185" Type="http://schemas.openxmlformats.org/officeDocument/2006/relationships/slide" Target="slides/slide174.xml"/><Relationship Id="rId186" Type="http://schemas.openxmlformats.org/officeDocument/2006/relationships/slide" Target="slides/slide175.xml"/><Relationship Id="rId187" Type="http://schemas.openxmlformats.org/officeDocument/2006/relationships/slide" Target="slides/slide176.xml"/><Relationship Id="rId188" Type="http://schemas.openxmlformats.org/officeDocument/2006/relationships/slide" Target="slides/slide177.xml"/><Relationship Id="rId189" Type="http://schemas.openxmlformats.org/officeDocument/2006/relationships/slide" Target="slides/slide178.xml"/><Relationship Id="rId190" Type="http://schemas.openxmlformats.org/officeDocument/2006/relationships/slide" Target="slides/slide179.xml"/><Relationship Id="rId191" Type="http://schemas.openxmlformats.org/officeDocument/2006/relationships/slide" Target="slides/slide180.xml"/><Relationship Id="rId192" Type="http://schemas.openxmlformats.org/officeDocument/2006/relationships/slide" Target="slides/slide181.xml"/><Relationship Id="rId193" Type="http://schemas.openxmlformats.org/officeDocument/2006/relationships/slide" Target="slides/slide182.xml"/><Relationship Id="rId194" Type="http://schemas.openxmlformats.org/officeDocument/2006/relationships/slide" Target="slides/slide183.xml"/><Relationship Id="rId195" Type="http://schemas.openxmlformats.org/officeDocument/2006/relationships/slide" Target="slides/slide184.xml"/><Relationship Id="rId196" Type="http://schemas.openxmlformats.org/officeDocument/2006/relationships/slide" Target="slides/slide185.xml"/><Relationship Id="rId197" Type="http://schemas.openxmlformats.org/officeDocument/2006/relationships/slide" Target="slides/slide186.xml"/><Relationship Id="rId198" Type="http://schemas.openxmlformats.org/officeDocument/2006/relationships/slide" Target="slides/slide187.xml"/><Relationship Id="rId199" Type="http://schemas.openxmlformats.org/officeDocument/2006/relationships/slide" Target="slides/slide188.xml"/><Relationship Id="rId200" Type="http://schemas.openxmlformats.org/officeDocument/2006/relationships/slide" Target="slides/slide189.xml"/><Relationship Id="rId201" Type="http://schemas.openxmlformats.org/officeDocument/2006/relationships/slide" Target="slides/slide190.xml"/><Relationship Id="rId202" Type="http://schemas.openxmlformats.org/officeDocument/2006/relationships/slide" Target="slides/slide191.xml"/><Relationship Id="rId203" Type="http://schemas.openxmlformats.org/officeDocument/2006/relationships/slide" Target="slides/slide192.xml"/><Relationship Id="rId204" Type="http://schemas.openxmlformats.org/officeDocument/2006/relationships/slide" Target="slides/slide193.xml"/><Relationship Id="rId205" Type="http://schemas.openxmlformats.org/officeDocument/2006/relationships/slide" Target="slides/slide194.xml"/><Relationship Id="rId206" Type="http://schemas.openxmlformats.org/officeDocument/2006/relationships/slide" Target="slides/slide195.xml"/><Relationship Id="rId207" Type="http://schemas.openxmlformats.org/officeDocument/2006/relationships/slide" Target="slides/slide196.xml"/><Relationship Id="rId208" Type="http://schemas.openxmlformats.org/officeDocument/2006/relationships/slide" Target="slides/slide197.xml"/><Relationship Id="rId209" Type="http://schemas.openxmlformats.org/officeDocument/2006/relationships/slide" Target="slides/slide198.xml"/><Relationship Id="rId210" Type="http://schemas.openxmlformats.org/officeDocument/2006/relationships/slide" Target="slides/slide199.xml"/><Relationship Id="rId211" Type="http://schemas.openxmlformats.org/officeDocument/2006/relationships/slide" Target="slides/slide200.xml"/><Relationship Id="rId212" Type="http://schemas.openxmlformats.org/officeDocument/2006/relationships/slide" Target="slides/slide201.xml"/><Relationship Id="rId213" Type="http://schemas.openxmlformats.org/officeDocument/2006/relationships/slide" Target="slides/slide202.xml"/><Relationship Id="rId214" Type="http://schemas.openxmlformats.org/officeDocument/2006/relationships/slide" Target="slides/slide203.xml"/><Relationship Id="rId215" Type="http://schemas.openxmlformats.org/officeDocument/2006/relationships/slide" Target="slides/slide204.xml"/><Relationship Id="rId216" Type="http://schemas.openxmlformats.org/officeDocument/2006/relationships/slide" Target="slides/slide205.xml"/><Relationship Id="rId217" Type="http://schemas.openxmlformats.org/officeDocument/2006/relationships/slide" Target="slides/slide206.xml"/><Relationship Id="rId218" Type="http://schemas.openxmlformats.org/officeDocument/2006/relationships/slide" Target="slides/slide207.xml"/><Relationship Id="rId219" Type="http://schemas.openxmlformats.org/officeDocument/2006/relationships/slide" Target="slides/slide208.xml"/><Relationship Id="rId220" Type="http://schemas.openxmlformats.org/officeDocument/2006/relationships/slide" Target="slides/slide209.xml"/><Relationship Id="rId221" Type="http://schemas.openxmlformats.org/officeDocument/2006/relationships/slide" Target="slides/slide210.xml"/><Relationship Id="rId222" Type="http://schemas.openxmlformats.org/officeDocument/2006/relationships/slide" Target="slides/slide211.xml"/><Relationship Id="rId223" Type="http://schemas.openxmlformats.org/officeDocument/2006/relationships/slide" Target="slides/slide212.xml"/><Relationship Id="rId224" Type="http://schemas.openxmlformats.org/officeDocument/2006/relationships/slide" Target="slides/slide213.xml"/><Relationship Id="rId225" Type="http://schemas.openxmlformats.org/officeDocument/2006/relationships/slide" Target="slides/slide214.xml"/><Relationship Id="rId226" Type="http://schemas.openxmlformats.org/officeDocument/2006/relationships/slide" Target="slides/slide215.xml"/><Relationship Id="rId227" Type="http://schemas.openxmlformats.org/officeDocument/2006/relationships/slide" Target="slides/slide216.xml"/><Relationship Id="rId228" Type="http://schemas.openxmlformats.org/officeDocument/2006/relationships/slide" Target="slides/slide217.xml"/><Relationship Id="rId229" Type="http://schemas.openxmlformats.org/officeDocument/2006/relationships/slide" Target="slides/slide218.xml"/><Relationship Id="rId230" Type="http://schemas.openxmlformats.org/officeDocument/2006/relationships/slide" Target="slides/slide219.xml"/><Relationship Id="rId231" Type="http://schemas.openxmlformats.org/officeDocument/2006/relationships/slide" Target="slides/slide220.xml"/><Relationship Id="rId232" Type="http://schemas.openxmlformats.org/officeDocument/2006/relationships/slide" Target="slides/slide221.xml"/><Relationship Id="rId233" Type="http://schemas.openxmlformats.org/officeDocument/2006/relationships/slide" Target="slides/slide222.xml"/><Relationship Id="rId234" Type="http://schemas.openxmlformats.org/officeDocument/2006/relationships/slide" Target="slides/slide223.xml"/><Relationship Id="rId235" Type="http://schemas.openxmlformats.org/officeDocument/2006/relationships/slide" Target="slides/slide224.xml"/><Relationship Id="rId236" Type="http://schemas.openxmlformats.org/officeDocument/2006/relationships/slide" Target="slides/slide225.xml"/><Relationship Id="rId237" Type="http://schemas.openxmlformats.org/officeDocument/2006/relationships/slide" Target="slides/slide226.xml"/><Relationship Id="rId238" Type="http://schemas.openxmlformats.org/officeDocument/2006/relationships/slide" Target="slides/slide227.xml"/><Relationship Id="rId239" Type="http://schemas.openxmlformats.org/officeDocument/2006/relationships/slide" Target="slides/slide228.xml"/><Relationship Id="rId240" Type="http://schemas.openxmlformats.org/officeDocument/2006/relationships/slide" Target="slides/slide229.xml"/><Relationship Id="rId241" Type="http://schemas.openxmlformats.org/officeDocument/2006/relationships/slide" Target="slides/slide230.xml"/><Relationship Id="rId242" Type="http://schemas.openxmlformats.org/officeDocument/2006/relationships/slide" Target="slides/slide231.xml"/><Relationship Id="rId243" Type="http://schemas.openxmlformats.org/officeDocument/2006/relationships/slide" Target="slides/slide232.xml"/><Relationship Id="rId244" Type="http://schemas.openxmlformats.org/officeDocument/2006/relationships/slide" Target="slides/slide233.xml"/><Relationship Id="rId245" Type="http://schemas.openxmlformats.org/officeDocument/2006/relationships/slide" Target="slides/slide234.xml"/><Relationship Id="rId246" Type="http://schemas.openxmlformats.org/officeDocument/2006/relationships/slide" Target="slides/slide235.xml"/><Relationship Id="rId247" Type="http://schemas.openxmlformats.org/officeDocument/2006/relationships/slide" Target="slides/slide236.xml"/><Relationship Id="rId248" Type="http://schemas.openxmlformats.org/officeDocument/2006/relationships/slide" Target="slides/slide237.xml"/><Relationship Id="rId249" Type="http://schemas.openxmlformats.org/officeDocument/2006/relationships/slide" Target="slides/slide238.xml"/><Relationship Id="rId250" Type="http://schemas.openxmlformats.org/officeDocument/2006/relationships/slide" Target="slides/slide239.xml"/><Relationship Id="rId251" Type="http://schemas.openxmlformats.org/officeDocument/2006/relationships/slide" Target="slides/slide240.xml"/><Relationship Id="rId252" Type="http://schemas.openxmlformats.org/officeDocument/2006/relationships/slide" Target="slides/slide241.xml"/><Relationship Id="rId253" Type="http://schemas.openxmlformats.org/officeDocument/2006/relationships/slide" Target="slides/slide242.xml"/><Relationship Id="rId254" Type="http://schemas.openxmlformats.org/officeDocument/2006/relationships/slide" Target="slides/slide243.xml"/><Relationship Id="rId255" Type="http://schemas.openxmlformats.org/officeDocument/2006/relationships/slide" Target="slides/slide244.xml"/><Relationship Id="rId256" Type="http://schemas.openxmlformats.org/officeDocument/2006/relationships/slide" Target="slides/slide245.xml"/><Relationship Id="rId257" Type="http://schemas.openxmlformats.org/officeDocument/2006/relationships/slide" Target="slides/slide246.xml"/><Relationship Id="rId258" Type="http://schemas.openxmlformats.org/officeDocument/2006/relationships/slide" Target="slides/slide247.xml"/><Relationship Id="rId259" Type="http://schemas.openxmlformats.org/officeDocument/2006/relationships/slide" Target="slides/slide248.xml"/><Relationship Id="rId260" Type="http://schemas.openxmlformats.org/officeDocument/2006/relationships/slide" Target="slides/slide249.xml"/><Relationship Id="rId261" Type="http://schemas.openxmlformats.org/officeDocument/2006/relationships/slide" Target="slides/slide250.xml"/><Relationship Id="rId262" Type="http://schemas.openxmlformats.org/officeDocument/2006/relationships/slide" Target="slides/slide251.xml"/><Relationship Id="rId263" Type="http://schemas.openxmlformats.org/officeDocument/2006/relationships/slide" Target="slides/slide252.xml"/><Relationship Id="rId264" Type="http://schemas.openxmlformats.org/officeDocument/2006/relationships/slide" Target="slides/slide253.xml"/><Relationship Id="rId265" Type="http://schemas.openxmlformats.org/officeDocument/2006/relationships/slide" Target="slides/slide254.xml"/><Relationship Id="rId266" Type="http://schemas.openxmlformats.org/officeDocument/2006/relationships/slide" Target="slides/slide255.xml"/><Relationship Id="rId267" Type="http://schemas.openxmlformats.org/officeDocument/2006/relationships/slide" Target="slides/slide256.xml"/><Relationship Id="rId268" Type="http://schemas.openxmlformats.org/officeDocument/2006/relationships/slide" Target="slides/slide257.xml"/><Relationship Id="rId269" Type="http://schemas.openxmlformats.org/officeDocument/2006/relationships/slide" Target="slides/slide258.xml"/><Relationship Id="rId270" Type="http://schemas.openxmlformats.org/officeDocument/2006/relationships/slide" Target="slides/slide259.xml"/><Relationship Id="rId271" Type="http://schemas.openxmlformats.org/officeDocument/2006/relationships/slide" Target="slides/slide260.xml"/><Relationship Id="rId272" Type="http://schemas.openxmlformats.org/officeDocument/2006/relationships/slide" Target="slides/slide261.xml"/><Relationship Id="rId273" Type="http://schemas.openxmlformats.org/officeDocument/2006/relationships/slide" Target="slides/slide262.xml"/><Relationship Id="rId274" Type="http://schemas.openxmlformats.org/officeDocument/2006/relationships/slide" Target="slides/slide263.xml"/><Relationship Id="rId275" Type="http://schemas.openxmlformats.org/officeDocument/2006/relationships/slide" Target="slides/slide264.xml"/><Relationship Id="rId276" Type="http://schemas.openxmlformats.org/officeDocument/2006/relationships/slide" Target="slides/slide265.xml"/><Relationship Id="rId277" Type="http://schemas.openxmlformats.org/officeDocument/2006/relationships/slide" Target="slides/slide266.xml"/><Relationship Id="rId278" Type="http://schemas.openxmlformats.org/officeDocument/2006/relationships/slide" Target="slides/slide267.xml"/><Relationship Id="rId279" Type="http://schemas.openxmlformats.org/officeDocument/2006/relationships/slide" Target="slides/slide268.xml"/><Relationship Id="rId280" Type="http://schemas.openxmlformats.org/officeDocument/2006/relationships/slide" Target="slides/slide269.xml"/><Relationship Id="rId281" Type="http://schemas.openxmlformats.org/officeDocument/2006/relationships/slide" Target="slides/slide270.xml"/><Relationship Id="rId282" Type="http://schemas.openxmlformats.org/officeDocument/2006/relationships/slide" Target="slides/slide271.xml"/><Relationship Id="rId283" Type="http://schemas.openxmlformats.org/officeDocument/2006/relationships/slide" Target="slides/slide272.xml"/><Relationship Id="rId284" Type="http://schemas.openxmlformats.org/officeDocument/2006/relationships/slide" Target="slides/slide273.xml"/><Relationship Id="rId285" Type="http://schemas.openxmlformats.org/officeDocument/2006/relationships/slide" Target="slides/slide274.xml"/><Relationship Id="rId286" Type="http://schemas.openxmlformats.org/officeDocument/2006/relationships/slide" Target="slides/slide275.xml"/><Relationship Id="rId287" Type="http://schemas.openxmlformats.org/officeDocument/2006/relationships/slide" Target="slides/slide276.xml"/><Relationship Id="rId288" Type="http://schemas.openxmlformats.org/officeDocument/2006/relationships/slide" Target="slides/slide277.xml"/><Relationship Id="rId289" Type="http://schemas.openxmlformats.org/officeDocument/2006/relationships/slide" Target="slides/slide278.xml"/><Relationship Id="rId290" Type="http://schemas.openxmlformats.org/officeDocument/2006/relationships/slide" Target="slides/slide279.xml"/><Relationship Id="rId291" Type="http://schemas.openxmlformats.org/officeDocument/2006/relationships/slide" Target="slides/slide280.xml"/><Relationship Id="rId292" Type="http://schemas.openxmlformats.org/officeDocument/2006/relationships/slide" Target="slides/slide281.xml"/><Relationship Id="rId293" Type="http://schemas.openxmlformats.org/officeDocument/2006/relationships/slide" Target="slides/slide282.xml"/><Relationship Id="rId294" Type="http://schemas.openxmlformats.org/officeDocument/2006/relationships/slide" Target="slides/slide283.xml"/><Relationship Id="rId295" Type="http://schemas.openxmlformats.org/officeDocument/2006/relationships/slide" Target="slides/slide284.xml"/><Relationship Id="rId296" Type="http://schemas.openxmlformats.org/officeDocument/2006/relationships/slide" Target="slides/slide285.xml"/><Relationship Id="rId297" Type="http://schemas.openxmlformats.org/officeDocument/2006/relationships/slide" Target="slides/slide286.xml"/><Relationship Id="rId298" Type="http://schemas.openxmlformats.org/officeDocument/2006/relationships/slide" Target="slides/slide287.xml"/><Relationship Id="rId299" Type="http://schemas.openxmlformats.org/officeDocument/2006/relationships/slide" Target="slides/slide288.xml"/><Relationship Id="rId300" Type="http://schemas.openxmlformats.org/officeDocument/2006/relationships/slide" Target="slides/slide289.xml"/><Relationship Id="rId301" Type="http://schemas.openxmlformats.org/officeDocument/2006/relationships/slide" Target="slides/slide290.xml"/><Relationship Id="rId302" Type="http://schemas.openxmlformats.org/officeDocument/2006/relationships/slide" Target="slides/slide291.xml"/><Relationship Id="rId303" Type="http://schemas.openxmlformats.org/officeDocument/2006/relationships/slide" Target="slides/slide292.xml"/><Relationship Id="rId304" Type="http://schemas.openxmlformats.org/officeDocument/2006/relationships/slide" Target="slides/slide293.xml"/><Relationship Id="rId305" Type="http://schemas.openxmlformats.org/officeDocument/2006/relationships/slide" Target="slides/slide294.xml"/><Relationship Id="rId306" Type="http://schemas.openxmlformats.org/officeDocument/2006/relationships/slide" Target="slides/slide295.xml"/><Relationship Id="rId307" Type="http://schemas.openxmlformats.org/officeDocument/2006/relationships/slide" Target="slides/slide296.xml"/><Relationship Id="rId308" Type="http://schemas.openxmlformats.org/officeDocument/2006/relationships/slide" Target="slides/slide297.xml"/><Relationship Id="rId309" Type="http://schemas.openxmlformats.org/officeDocument/2006/relationships/slide" Target="slides/slide298.xml"/><Relationship Id="rId310" Type="http://schemas.openxmlformats.org/officeDocument/2006/relationships/slide" Target="slides/slide299.xml"/><Relationship Id="rId311" Type="http://schemas.openxmlformats.org/officeDocument/2006/relationships/slide" Target="slides/slide300.xml"/><Relationship Id="rId312" Type="http://schemas.openxmlformats.org/officeDocument/2006/relationships/slide" Target="slides/slide301.xml"/><Relationship Id="rId313" Type="http://schemas.openxmlformats.org/officeDocument/2006/relationships/slide" Target="slides/slide302.xml"/><Relationship Id="rId314" Type="http://schemas.openxmlformats.org/officeDocument/2006/relationships/slide" Target="slides/slide303.xml"/><Relationship Id="rId315" Type="http://schemas.openxmlformats.org/officeDocument/2006/relationships/slide" Target="slides/slide304.xml"/><Relationship Id="rId316" Type="http://schemas.openxmlformats.org/officeDocument/2006/relationships/slide" Target="slides/slide305.xml"/><Relationship Id="rId317" Type="http://schemas.openxmlformats.org/officeDocument/2006/relationships/slide" Target="slides/slide306.xml"/><Relationship Id="rId318" Type="http://schemas.openxmlformats.org/officeDocument/2006/relationships/slide" Target="slides/slide307.xml"/><Relationship Id="rId319" Type="http://schemas.openxmlformats.org/officeDocument/2006/relationships/slide" Target="slides/slide308.xml"/><Relationship Id="rId320" Type="http://schemas.openxmlformats.org/officeDocument/2006/relationships/slide" Target="slides/slide309.xml"/><Relationship Id="rId321" Type="http://schemas.openxmlformats.org/officeDocument/2006/relationships/slide" Target="slides/slide310.xml"/><Relationship Id="rId322" Type="http://schemas.openxmlformats.org/officeDocument/2006/relationships/slide" Target="slides/slide311.xml"/><Relationship Id="rId323" Type="http://schemas.openxmlformats.org/officeDocument/2006/relationships/slide" Target="slides/slide312.xml"/><Relationship Id="rId324" Type="http://schemas.openxmlformats.org/officeDocument/2006/relationships/slide" Target="slides/slide313.xml"/><Relationship Id="rId325" Type="http://schemas.openxmlformats.org/officeDocument/2006/relationships/slide" Target="slides/slide314.xml"/><Relationship Id="rId326" Type="http://schemas.openxmlformats.org/officeDocument/2006/relationships/slide" Target="slides/slide315.xml"/><Relationship Id="rId327" Type="http://schemas.openxmlformats.org/officeDocument/2006/relationships/slide" Target="slides/slide316.xml"/><Relationship Id="rId328" Type="http://schemas.openxmlformats.org/officeDocument/2006/relationships/slide" Target="slides/slide317.xml"/><Relationship Id="rId329" Type="http://schemas.openxmlformats.org/officeDocument/2006/relationships/slide" Target="slides/slide318.xml"/><Relationship Id="rId330" Type="http://schemas.openxmlformats.org/officeDocument/2006/relationships/slide" Target="slides/slide319.xml"/><Relationship Id="rId331" Type="http://schemas.openxmlformats.org/officeDocument/2006/relationships/slide" Target="slides/slide320.xml"/><Relationship Id="rId332" Type="http://schemas.openxmlformats.org/officeDocument/2006/relationships/slide" Target="slides/slide321.xml"/><Relationship Id="rId333" Type="http://schemas.openxmlformats.org/officeDocument/2006/relationships/slide" Target="slides/slide322.xml"/><Relationship Id="rId334" Type="http://schemas.openxmlformats.org/officeDocument/2006/relationships/slide" Target="slides/slide323.xml"/><Relationship Id="rId335" Type="http://schemas.openxmlformats.org/officeDocument/2006/relationships/slide" Target="slides/slide324.xml"/><Relationship Id="rId336" Type="http://schemas.openxmlformats.org/officeDocument/2006/relationships/slide" Target="slides/slide325.xml"/><Relationship Id="rId337" Type="http://schemas.openxmlformats.org/officeDocument/2006/relationships/slide" Target="slides/slide326.xml"/><Relationship Id="rId338" Type="http://schemas.openxmlformats.org/officeDocument/2006/relationships/slide" Target="slides/slide327.xml"/><Relationship Id="rId339" Type="http://schemas.openxmlformats.org/officeDocument/2006/relationships/slide" Target="slides/slide328.xml"/><Relationship Id="rId340" Type="http://schemas.openxmlformats.org/officeDocument/2006/relationships/slide" Target="slides/slide329.xml"/><Relationship Id="rId341" Type="http://schemas.openxmlformats.org/officeDocument/2006/relationships/slide" Target="slides/slide330.xml"/><Relationship Id="rId342" Type="http://schemas.openxmlformats.org/officeDocument/2006/relationships/slide" Target="slides/slide331.xml"/><Relationship Id="rId343" Type="http://schemas.openxmlformats.org/officeDocument/2006/relationships/slide" Target="slides/slide332.xml"/><Relationship Id="rId344" Type="http://schemas.openxmlformats.org/officeDocument/2006/relationships/slide" Target="slides/slide333.xml"/><Relationship Id="rId345" Type="http://schemas.openxmlformats.org/officeDocument/2006/relationships/slide" Target="slides/slide334.xml"/><Relationship Id="rId346" Type="http://schemas.openxmlformats.org/officeDocument/2006/relationships/slide" Target="slides/slide335.xml"/><Relationship Id="rId347" Type="http://schemas.openxmlformats.org/officeDocument/2006/relationships/slide" Target="slides/slide336.xml"/><Relationship Id="rId348" Type="http://schemas.openxmlformats.org/officeDocument/2006/relationships/slide" Target="slides/slide337.xml"/><Relationship Id="rId349" Type="http://schemas.openxmlformats.org/officeDocument/2006/relationships/slide" Target="slides/slide338.xml"/><Relationship Id="rId350" Type="http://schemas.openxmlformats.org/officeDocument/2006/relationships/slide" Target="slides/slide339.xml"/><Relationship Id="rId351" Type="http://schemas.openxmlformats.org/officeDocument/2006/relationships/slide" Target="slides/slide340.xml"/><Relationship Id="rId352" Type="http://schemas.openxmlformats.org/officeDocument/2006/relationships/slide" Target="slides/slide341.xml"/><Relationship Id="rId353" Type="http://schemas.openxmlformats.org/officeDocument/2006/relationships/slide" Target="slides/slide342.xml"/><Relationship Id="rId354" Type="http://schemas.openxmlformats.org/officeDocument/2006/relationships/slide" Target="slides/slide343.xml"/><Relationship Id="rId355" Type="http://schemas.openxmlformats.org/officeDocument/2006/relationships/slide" Target="slides/slide344.xml"/><Relationship Id="rId356" Type="http://schemas.openxmlformats.org/officeDocument/2006/relationships/slide" Target="slides/slide345.xml"/><Relationship Id="rId357" Type="http://schemas.openxmlformats.org/officeDocument/2006/relationships/slide" Target="slides/slide346.xml"/><Relationship Id="rId358" Type="http://schemas.openxmlformats.org/officeDocument/2006/relationships/slide" Target="slides/slide347.xml"/><Relationship Id="rId359" Type="http://schemas.openxmlformats.org/officeDocument/2006/relationships/slide" Target="slides/slide348.xml"/><Relationship Id="rId360" Type="http://schemas.openxmlformats.org/officeDocument/2006/relationships/slide" Target="slides/slide349.xml"/><Relationship Id="rId361" Type="http://schemas.openxmlformats.org/officeDocument/2006/relationships/slide" Target="slides/slide350.xml"/><Relationship Id="rId362" Type="http://schemas.openxmlformats.org/officeDocument/2006/relationships/slide" Target="slides/slide351.xml"/><Relationship Id="rId363" Type="http://schemas.openxmlformats.org/officeDocument/2006/relationships/slide" Target="slides/slide352.xml"/><Relationship Id="rId364" Type="http://schemas.openxmlformats.org/officeDocument/2006/relationships/slide" Target="slides/slide353.xml"/><Relationship Id="rId365" Type="http://schemas.openxmlformats.org/officeDocument/2006/relationships/slide" Target="slides/slide354.xml"/><Relationship Id="rId366" Type="http://schemas.openxmlformats.org/officeDocument/2006/relationships/slide" Target="slides/slide355.xml"/><Relationship Id="rId367" Type="http://schemas.openxmlformats.org/officeDocument/2006/relationships/slide" Target="slides/slide356.xml"/><Relationship Id="rId368" Type="http://schemas.openxmlformats.org/officeDocument/2006/relationships/slide" Target="slides/slide357.xml"/><Relationship Id="rId369" Type="http://schemas.openxmlformats.org/officeDocument/2006/relationships/slide" Target="slides/slide358.xml"/><Relationship Id="rId370" Type="http://schemas.openxmlformats.org/officeDocument/2006/relationships/slide" Target="slides/slide359.xml"/><Relationship Id="rId371" Type="http://schemas.openxmlformats.org/officeDocument/2006/relationships/slide" Target="slides/slide360.xml"/><Relationship Id="rId372" Type="http://schemas.openxmlformats.org/officeDocument/2006/relationships/slide" Target="slides/slide361.xml"/><Relationship Id="rId373" Type="http://schemas.openxmlformats.org/officeDocument/2006/relationships/slide" Target="slides/slide362.xml"/><Relationship Id="rId374" Type="http://schemas.openxmlformats.org/officeDocument/2006/relationships/slide" Target="slides/slide363.xml"/><Relationship Id="rId375" Type="http://schemas.openxmlformats.org/officeDocument/2006/relationships/slide" Target="slides/slide364.xml"/><Relationship Id="rId376" Type="http://schemas.openxmlformats.org/officeDocument/2006/relationships/slide" Target="slides/slide365.xml"/><Relationship Id="rId377" Type="http://schemas.openxmlformats.org/officeDocument/2006/relationships/slide" Target="slides/slide366.xml"/><Relationship Id="rId378" Type="http://schemas.openxmlformats.org/officeDocument/2006/relationships/slide" Target="slides/slide367.xml"/><Relationship Id="rId379" Type="http://schemas.openxmlformats.org/officeDocument/2006/relationships/slide" Target="slides/slide368.xml"/><Relationship Id="rId380" Type="http://schemas.openxmlformats.org/officeDocument/2006/relationships/slide" Target="slides/slide369.xml"/><Relationship Id="rId381" Type="http://schemas.openxmlformats.org/officeDocument/2006/relationships/slide" Target="slides/slide370.xml"/><Relationship Id="rId382" Type="http://schemas.openxmlformats.org/officeDocument/2006/relationships/slide" Target="slides/slide371.xml"/><Relationship Id="rId383" Type="http://schemas.openxmlformats.org/officeDocument/2006/relationships/slide" Target="slides/slide372.xml"/><Relationship Id="rId384" Type="http://schemas.openxmlformats.org/officeDocument/2006/relationships/slide" Target="slides/slide373.xml"/><Relationship Id="rId385" Type="http://schemas.openxmlformats.org/officeDocument/2006/relationships/slide" Target="slides/slide374.xml"/><Relationship Id="rId386" Type="http://schemas.openxmlformats.org/officeDocument/2006/relationships/slide" Target="slides/slide375.xml"/><Relationship Id="rId387" Type="http://schemas.openxmlformats.org/officeDocument/2006/relationships/slide" Target="slides/slide376.xml"/><Relationship Id="rId388" Type="http://schemas.openxmlformats.org/officeDocument/2006/relationships/slide" Target="slides/slide377.xml"/><Relationship Id="rId389" Type="http://schemas.openxmlformats.org/officeDocument/2006/relationships/slide" Target="slides/slide378.xml"/><Relationship Id="rId390" Type="http://schemas.openxmlformats.org/officeDocument/2006/relationships/slide" Target="slides/slide379.xml"/><Relationship Id="rId391" Type="http://schemas.openxmlformats.org/officeDocument/2006/relationships/slide" Target="slides/slide380.xml"/><Relationship Id="rId392" Type="http://schemas.openxmlformats.org/officeDocument/2006/relationships/slide" Target="slides/slide381.xml"/><Relationship Id="rId393" Type="http://schemas.openxmlformats.org/officeDocument/2006/relationships/slide" Target="slides/slide382.xml"/><Relationship Id="rId394" Type="http://schemas.openxmlformats.org/officeDocument/2006/relationships/slide" Target="slides/slide383.xml"/><Relationship Id="rId395" Type="http://schemas.openxmlformats.org/officeDocument/2006/relationships/slide" Target="slides/slide384.xml"/><Relationship Id="rId396" Type="http://schemas.openxmlformats.org/officeDocument/2006/relationships/slide" Target="slides/slide385.xml"/><Relationship Id="rId397" Type="http://schemas.openxmlformats.org/officeDocument/2006/relationships/slide" Target="slides/slide386.xml"/><Relationship Id="rId398" Type="http://schemas.openxmlformats.org/officeDocument/2006/relationships/slide" Target="slides/slide387.xml"/><Relationship Id="rId399" Type="http://schemas.openxmlformats.org/officeDocument/2006/relationships/slide" Target="slides/slide388.xml"/><Relationship Id="rId400" Type="http://schemas.openxmlformats.org/officeDocument/2006/relationships/slide" Target="slides/slide389.xml"/><Relationship Id="rId401" Type="http://schemas.openxmlformats.org/officeDocument/2006/relationships/slide" Target="slides/slide390.xml"/><Relationship Id="rId402" Type="http://schemas.openxmlformats.org/officeDocument/2006/relationships/slide" Target="slides/slide391.xml"/><Relationship Id="rId403" Type="http://schemas.openxmlformats.org/officeDocument/2006/relationships/slide" Target="slides/slide392.xml"/><Relationship Id="rId404" Type="http://schemas.openxmlformats.org/officeDocument/2006/relationships/slide" Target="slides/slide393.xml"/><Relationship Id="rId405" Type="http://schemas.openxmlformats.org/officeDocument/2006/relationships/slide" Target="slides/slide394.xml"/><Relationship Id="rId406" Type="http://schemas.openxmlformats.org/officeDocument/2006/relationships/slide" Target="slides/slide395.xml"/><Relationship Id="rId407" Type="http://schemas.openxmlformats.org/officeDocument/2006/relationships/slide" Target="slides/slide396.xml"/><Relationship Id="rId408" Type="http://schemas.openxmlformats.org/officeDocument/2006/relationships/slide" Target="slides/slide397.xml"/><Relationship Id="rId409" Type="http://schemas.openxmlformats.org/officeDocument/2006/relationships/slide" Target="slides/slide398.xml"/><Relationship Id="rId410" Type="http://schemas.openxmlformats.org/officeDocument/2006/relationships/slide" Target="slides/slide399.xml"/><Relationship Id="rId411" Type="http://schemas.openxmlformats.org/officeDocument/2006/relationships/slide" Target="slides/slide400.xml"/><Relationship Id="rId412" Type="http://schemas.openxmlformats.org/officeDocument/2006/relationships/slide" Target="slides/slide401.xml"/><Relationship Id="rId413" Type="http://schemas.openxmlformats.org/officeDocument/2006/relationships/slide" Target="slides/slide402.xml"/><Relationship Id="rId414" Type="http://schemas.openxmlformats.org/officeDocument/2006/relationships/slide" Target="slides/slide403.xml"/><Relationship Id="rId415" Type="http://schemas.openxmlformats.org/officeDocument/2006/relationships/slide" Target="slides/slide404.xml"/><Relationship Id="rId416" Type="http://schemas.openxmlformats.org/officeDocument/2006/relationships/slide" Target="slides/slide405.xml"/><Relationship Id="rId417" Type="http://schemas.openxmlformats.org/officeDocument/2006/relationships/slide" Target="slides/slide406.xml"/><Relationship Id="rId418" Type="http://schemas.openxmlformats.org/officeDocument/2006/relationships/slide" Target="slides/slide407.xml"/><Relationship Id="rId419" Type="http://schemas.openxmlformats.org/officeDocument/2006/relationships/slide" Target="slides/slide408.xml"/><Relationship Id="rId420" Type="http://schemas.openxmlformats.org/officeDocument/2006/relationships/slide" Target="slides/slide409.xml"/><Relationship Id="rId421" Type="http://schemas.openxmlformats.org/officeDocument/2006/relationships/slide" Target="slides/slide410.xml"/><Relationship Id="rId422" Type="http://schemas.openxmlformats.org/officeDocument/2006/relationships/slide" Target="slides/slide411.xml"/><Relationship Id="rId423" Type="http://schemas.openxmlformats.org/officeDocument/2006/relationships/slide" Target="slides/slide412.xml"/><Relationship Id="rId424" Type="http://schemas.openxmlformats.org/officeDocument/2006/relationships/slide" Target="slides/slide413.xml"/><Relationship Id="rId425" Type="http://schemas.openxmlformats.org/officeDocument/2006/relationships/slide" Target="slides/slide414.xml"/><Relationship Id="rId426" Type="http://schemas.openxmlformats.org/officeDocument/2006/relationships/slide" Target="slides/slide415.xml"/><Relationship Id="rId427" Type="http://schemas.openxmlformats.org/officeDocument/2006/relationships/slide" Target="slides/slide416.xml"/><Relationship Id="rId428" Type="http://schemas.openxmlformats.org/officeDocument/2006/relationships/slide" Target="slides/slide417.xml"/><Relationship Id="rId429" Type="http://schemas.openxmlformats.org/officeDocument/2006/relationships/slide" Target="slides/slide418.xml"/><Relationship Id="rId430" Type="http://schemas.openxmlformats.org/officeDocument/2006/relationships/slide" Target="slides/slide419.xml"/><Relationship Id="rId431" Type="http://schemas.openxmlformats.org/officeDocument/2006/relationships/slide" Target="slides/slide420.xml"/><Relationship Id="rId432" Type="http://schemas.openxmlformats.org/officeDocument/2006/relationships/slide" Target="slides/slide421.xml"/><Relationship Id="rId433" Type="http://schemas.openxmlformats.org/officeDocument/2006/relationships/slide" Target="slides/slide422.xml"/><Relationship Id="rId434" Type="http://schemas.openxmlformats.org/officeDocument/2006/relationships/slide" Target="slides/slide423.xml"/><Relationship Id="rId435" Type="http://schemas.openxmlformats.org/officeDocument/2006/relationships/slide" Target="slides/slide424.xml"/><Relationship Id="rId436" Type="http://schemas.openxmlformats.org/officeDocument/2006/relationships/slide" Target="slides/slide425.xml"/><Relationship Id="rId437" Type="http://schemas.openxmlformats.org/officeDocument/2006/relationships/slide" Target="slides/slide426.xml"/><Relationship Id="rId438" Type="http://schemas.openxmlformats.org/officeDocument/2006/relationships/slide" Target="slides/slide427.xml"/><Relationship Id="rId439" Type="http://schemas.openxmlformats.org/officeDocument/2006/relationships/slide" Target="slides/slide428.xml"/><Relationship Id="rId440" Type="http://schemas.openxmlformats.org/officeDocument/2006/relationships/slide" Target="slides/slide429.xml"/><Relationship Id="rId441" Type="http://schemas.openxmlformats.org/officeDocument/2006/relationships/slide" Target="slides/slide430.xml"/><Relationship Id="rId442" Type="http://schemas.openxmlformats.org/officeDocument/2006/relationships/slide" Target="slides/slide431.xml"/><Relationship Id="rId443" Type="http://schemas.openxmlformats.org/officeDocument/2006/relationships/slide" Target="slides/slide432.xml"/><Relationship Id="rId444" Type="http://schemas.openxmlformats.org/officeDocument/2006/relationships/slide" Target="slides/slide433.xml"/><Relationship Id="rId445" Type="http://schemas.openxmlformats.org/officeDocument/2006/relationships/slide" Target="slides/slide434.xml"/><Relationship Id="rId446" Type="http://schemas.openxmlformats.org/officeDocument/2006/relationships/slide" Target="slides/slide435.xml"/><Relationship Id="rId447" Type="http://schemas.openxmlformats.org/officeDocument/2006/relationships/slide" Target="slides/slide436.xml"/><Relationship Id="rId448" Type="http://schemas.openxmlformats.org/officeDocument/2006/relationships/slide" Target="slides/slide437.xml"/><Relationship Id="rId449" Type="http://schemas.openxmlformats.org/officeDocument/2006/relationships/slide" Target="slides/slide438.xml"/><Relationship Id="rId450" Type="http://schemas.openxmlformats.org/officeDocument/2006/relationships/slide" Target="slides/slide439.xml"/><Relationship Id="rId451" Type="http://schemas.openxmlformats.org/officeDocument/2006/relationships/slide" Target="slides/slide440.xml"/><Relationship Id="rId452" Type="http://schemas.openxmlformats.org/officeDocument/2006/relationships/slide" Target="slides/slide441.xml"/><Relationship Id="rId453" Type="http://schemas.openxmlformats.org/officeDocument/2006/relationships/slide" Target="slides/slide442.xml"/><Relationship Id="rId454" Type="http://schemas.openxmlformats.org/officeDocument/2006/relationships/slide" Target="slides/slide443.xml"/><Relationship Id="rId455" Type="http://schemas.openxmlformats.org/officeDocument/2006/relationships/slide" Target="slides/slide444.xml"/><Relationship Id="rId456" Type="http://schemas.openxmlformats.org/officeDocument/2006/relationships/slide" Target="slides/slide445.xml"/><Relationship Id="rId457" Type="http://schemas.openxmlformats.org/officeDocument/2006/relationships/slide" Target="slides/slide446.xml"/><Relationship Id="rId458" Type="http://schemas.openxmlformats.org/officeDocument/2006/relationships/slide" Target="slides/slide447.xml"/><Relationship Id="rId459" Type="http://schemas.openxmlformats.org/officeDocument/2006/relationships/slide" Target="slides/slide448.xml"/><Relationship Id="rId460" Type="http://schemas.openxmlformats.org/officeDocument/2006/relationships/slide" Target="slides/slide449.xml"/><Relationship Id="rId461" Type="http://schemas.openxmlformats.org/officeDocument/2006/relationships/slide" Target="slides/slide450.xml"/><Relationship Id="rId462" Type="http://schemas.openxmlformats.org/officeDocument/2006/relationships/slide" Target="slides/slide451.xml"/><Relationship Id="rId463" Type="http://schemas.openxmlformats.org/officeDocument/2006/relationships/slide" Target="slides/slide452.xml"/><Relationship Id="rId464" Type="http://schemas.openxmlformats.org/officeDocument/2006/relationships/slide" Target="slides/slide453.xml"/><Relationship Id="rId465" Type="http://schemas.openxmlformats.org/officeDocument/2006/relationships/slide" Target="slides/slide454.xml"/><Relationship Id="rId466" Type="http://schemas.openxmlformats.org/officeDocument/2006/relationships/slide" Target="slides/slide455.xml"/><Relationship Id="rId467" Type="http://schemas.openxmlformats.org/officeDocument/2006/relationships/slide" Target="slides/slide456.xml"/><Relationship Id="rId468" Type="http://schemas.openxmlformats.org/officeDocument/2006/relationships/slide" Target="slides/slide457.xml"/><Relationship Id="rId469" Type="http://schemas.openxmlformats.org/officeDocument/2006/relationships/slide" Target="slides/slide458.xml"/><Relationship Id="rId470" Type="http://schemas.openxmlformats.org/officeDocument/2006/relationships/slide" Target="slides/slide459.xml"/><Relationship Id="rId471" Type="http://schemas.openxmlformats.org/officeDocument/2006/relationships/slide" Target="slides/slide460.xml"/><Relationship Id="rId472" Type="http://schemas.openxmlformats.org/officeDocument/2006/relationships/slide" Target="slides/slide461.xml"/><Relationship Id="rId473" Type="http://schemas.openxmlformats.org/officeDocument/2006/relationships/slide" Target="slides/slide462.xml"/><Relationship Id="rId474" Type="http://schemas.openxmlformats.org/officeDocument/2006/relationships/slide" Target="slides/slide463.xml"/><Relationship Id="rId475" Type="http://schemas.openxmlformats.org/officeDocument/2006/relationships/slide" Target="slides/slide464.xml"/><Relationship Id="rId476" Type="http://schemas.openxmlformats.org/officeDocument/2006/relationships/slide" Target="slides/slide465.xml"/><Relationship Id="rId477" Type="http://schemas.openxmlformats.org/officeDocument/2006/relationships/slide" Target="slides/slide466.xml"/><Relationship Id="rId478" Type="http://schemas.openxmlformats.org/officeDocument/2006/relationships/slide" Target="slides/slide467.xml"/><Relationship Id="rId479" Type="http://schemas.openxmlformats.org/officeDocument/2006/relationships/slide" Target="slides/slide468.xml"/><Relationship Id="rId480" Type="http://schemas.openxmlformats.org/officeDocument/2006/relationships/slide" Target="slides/slide469.xml"/><Relationship Id="rId481" Type="http://schemas.openxmlformats.org/officeDocument/2006/relationships/slide" Target="slides/slide470.xml"/><Relationship Id="rId482" Type="http://schemas.openxmlformats.org/officeDocument/2006/relationships/slide" Target="slides/slide471.xml"/><Relationship Id="rId483" Type="http://schemas.openxmlformats.org/officeDocument/2006/relationships/slide" Target="slides/slide472.xml"/><Relationship Id="rId484" Type="http://schemas.openxmlformats.org/officeDocument/2006/relationships/slide" Target="slides/slide473.xml"/><Relationship Id="rId485" Type="http://schemas.openxmlformats.org/officeDocument/2006/relationships/slide" Target="slides/slide474.xml"/><Relationship Id="rId486" Type="http://schemas.openxmlformats.org/officeDocument/2006/relationships/slide" Target="slides/slide475.xml"/><Relationship Id="rId487" Type="http://schemas.openxmlformats.org/officeDocument/2006/relationships/slide" Target="slides/slide476.xml"/><Relationship Id="rId488" Type="http://schemas.openxmlformats.org/officeDocument/2006/relationships/slide" Target="slides/slide477.xml"/><Relationship Id="rId489" Type="http://schemas.openxmlformats.org/officeDocument/2006/relationships/slide" Target="slides/slide478.xml"/><Relationship Id="rId490" Type="http://schemas.openxmlformats.org/officeDocument/2006/relationships/slide" Target="slides/slide479.xml"/><Relationship Id="rId491" Type="http://schemas.openxmlformats.org/officeDocument/2006/relationships/slide" Target="slides/slide480.xml"/><Relationship Id="rId492" Type="http://schemas.openxmlformats.org/officeDocument/2006/relationships/slide" Target="slides/slide481.xml"/><Relationship Id="rId493" Type="http://schemas.openxmlformats.org/officeDocument/2006/relationships/slide" Target="slides/slide482.xml"/><Relationship Id="rId494" Type="http://schemas.openxmlformats.org/officeDocument/2006/relationships/slide" Target="slides/slide483.xml"/><Relationship Id="rId495" Type="http://schemas.openxmlformats.org/officeDocument/2006/relationships/slide" Target="slides/slide484.xml"/><Relationship Id="rId496" Type="http://schemas.openxmlformats.org/officeDocument/2006/relationships/slide" Target="slides/slide485.xml"/><Relationship Id="rId497" Type="http://schemas.openxmlformats.org/officeDocument/2006/relationships/slide" Target="slides/slide486.xml"/><Relationship Id="rId498" Type="http://schemas.openxmlformats.org/officeDocument/2006/relationships/slide" Target="slides/slide487.xml"/><Relationship Id="rId499" Type="http://schemas.openxmlformats.org/officeDocument/2006/relationships/slide" Target="slides/slide488.xml"/><Relationship Id="rId500" Type="http://schemas.openxmlformats.org/officeDocument/2006/relationships/slide" Target="slides/slide489.xml"/><Relationship Id="rId501" Type="http://schemas.openxmlformats.org/officeDocument/2006/relationships/slide" Target="slides/slide490.xml"/><Relationship Id="rId502" Type="http://schemas.openxmlformats.org/officeDocument/2006/relationships/slide" Target="slides/slide491.xml"/><Relationship Id="rId503" Type="http://schemas.openxmlformats.org/officeDocument/2006/relationships/slide" Target="slides/slide492.xml"/><Relationship Id="rId504" Type="http://schemas.openxmlformats.org/officeDocument/2006/relationships/slide" Target="slides/slide493.xml"/><Relationship Id="rId505" Type="http://schemas.openxmlformats.org/officeDocument/2006/relationships/slide" Target="slides/slide494.xml"/><Relationship Id="rId506" Type="http://schemas.openxmlformats.org/officeDocument/2006/relationships/slide" Target="slides/slide495.xml"/><Relationship Id="rId507" Type="http://schemas.openxmlformats.org/officeDocument/2006/relationships/slide" Target="slides/slide496.xml"/><Relationship Id="rId508" Type="http://schemas.openxmlformats.org/officeDocument/2006/relationships/slide" Target="slides/slide497.xml"/><Relationship Id="rId509" Type="http://schemas.openxmlformats.org/officeDocument/2006/relationships/slide" Target="slides/slide498.xml"/><Relationship Id="rId510" Type="http://schemas.openxmlformats.org/officeDocument/2006/relationships/slide" Target="slides/slide499.xml"/><Relationship Id="rId511" Type="http://schemas.openxmlformats.org/officeDocument/2006/relationships/slide" Target="slides/slide500.xml"/><Relationship Id="rId512" Type="http://schemas.openxmlformats.org/officeDocument/2006/relationships/slide" Target="slides/slide501.xml"/><Relationship Id="rId513" Type="http://schemas.openxmlformats.org/officeDocument/2006/relationships/slide" Target="slides/slide502.xml"/><Relationship Id="rId514" Type="http://schemas.openxmlformats.org/officeDocument/2006/relationships/slide" Target="slides/slide503.xml"/><Relationship Id="rId515" Type="http://schemas.openxmlformats.org/officeDocument/2006/relationships/slide" Target="slides/slide504.xml"/><Relationship Id="rId516" Type="http://schemas.openxmlformats.org/officeDocument/2006/relationships/slide" Target="slides/slide505.xml"/><Relationship Id="rId517" Type="http://schemas.openxmlformats.org/officeDocument/2006/relationships/slide" Target="slides/slide506.xml"/><Relationship Id="rId518" Type="http://schemas.openxmlformats.org/officeDocument/2006/relationships/slide" Target="slides/slide507.xml"/><Relationship Id="rId519" Type="http://schemas.openxmlformats.org/officeDocument/2006/relationships/slide" Target="slides/slide508.xml"/><Relationship Id="rId520" Type="http://schemas.openxmlformats.org/officeDocument/2006/relationships/slide" Target="slides/slide509.xml"/><Relationship Id="rId521" Type="http://schemas.openxmlformats.org/officeDocument/2006/relationships/slide" Target="slides/slide510.xml"/><Relationship Id="rId522" Type="http://schemas.openxmlformats.org/officeDocument/2006/relationships/slide" Target="slides/slide511.xml"/><Relationship Id="rId523" Type="http://schemas.openxmlformats.org/officeDocument/2006/relationships/slide" Target="slides/slide512.xml"/><Relationship Id="rId524" Type="http://schemas.openxmlformats.org/officeDocument/2006/relationships/slide" Target="slides/slide513.xml"/><Relationship Id="rId525" Type="http://schemas.openxmlformats.org/officeDocument/2006/relationships/slide" Target="slides/slide514.xml"/><Relationship Id="rId526" Type="http://schemas.openxmlformats.org/officeDocument/2006/relationships/slide" Target="slides/slide515.xml"/><Relationship Id="rId529" Type="http://schemas.openxmlformats.org/officeDocument/2006/relationships/slide" Target="slides/slide516.xml"/><Relationship Id="rId530" Type="http://schemas.openxmlformats.org/officeDocument/2006/relationships/slide" Target="slides/slide5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png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png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png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png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png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png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png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95160" y="128016"/>
            <a:ext cx="5202936" cy="6729984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73568" y="2011680"/>
            <a:ext cx="32461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tia-linu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240280"/>
            <a:ext cx="2251674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95160" y="4709160"/>
            <a:ext cx="52029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DDAD7"/>
                </a:solidFill>
                <a:latin typeface="Arial"/>
              </a:rPr>
              <a:t>XK0-006  ·  V8  ·  5 DOMAINS  ·  30 HANDS-ON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5138928"/>
            <a:ext cx="52029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D7E0EA"/>
                </a:solidFill>
                <a:latin typeface="Arial"/>
              </a:rPr>
              <a:t>Powered by Killercoda — every lab free in the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0352"/>
            <a:ext cx="5715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08C95"/>
                </a:solidFill>
                <a:latin typeface="Arial"/>
              </a:rPr>
              <a:t>NON-WSQ COURSE | COMPTIA LINUX+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051560"/>
            <a:ext cx="59893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0E2A47"/>
                </a:solidFill>
                <a:latin typeface="Arial"/>
              </a:rPr>
              <a:t>CompTIA Linux+ Training (XK0-006)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154680"/>
            <a:ext cx="5623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5C6677"/>
                </a:solidFill>
                <a:latin typeface="Arial"/>
              </a:rPr>
              <a:t>Administer, secure, automate and troubleshoot Linux — and walk into the exam having already done the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4261104"/>
            <a:ext cx="5760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31B2A"/>
                </a:solidFill>
                <a:latin typeface="Arial"/>
              </a:rPr>
              <a:t>Course Code: C1162</a:t>
            </a:r>
          </a:p>
          <a:p>
            <a:r>
              <a:rPr sz="1200" b="0">
                <a:latin typeface="Arial"/>
              </a:rPr>
              <a:t>Trainer: Dr. Alfred Ang</a:t>
            </a:r>
          </a:p>
          <a:p>
            <a:r>
              <a:rPr sz="1200" b="0">
                <a:latin typeface="Arial"/>
              </a:rPr>
              <a:t>Version v1 | 21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696712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E2A47"/>
                </a:solidFill>
                <a:latin typeface="Arial"/>
              </a:rPr>
              <a:t>Tertiary Infotech Academy Pte Ltd | UEN 201200696W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DAD7"/>
                </a:solidFill>
                <a:latin typeface="Arial"/>
              </a:rPr>
              <a:t>SECTION 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5887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D7E0EA"/>
                </a:solidFill>
                <a:latin typeface="Arial"/>
              </a:rPr>
              <a:t>Welcome | facilitator | introductions |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75504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6DDAD7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YOUR FACILITATOR |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Your Facilitator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3291840" cy="4663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3291840" cy="91440"/>
          </a:xfrm>
          <a:prstGeom prst="rect">
            <a:avLst/>
          </a:prstGeom>
          <a:solidFill>
            <a:srgbClr val="5C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9052" y="2011680"/>
            <a:ext cx="1417320" cy="1417320"/>
          </a:xfrm>
          <a:prstGeom prst="ellipse">
            <a:avLst/>
          </a:prstGeom>
          <a:solidFill>
            <a:srgbClr val="5C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052" y="237744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70332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31B2A"/>
                </a:solidFill>
                <a:latin typeface="Arial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25196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C6677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7269480" cy="685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73152" cy="685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6766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B2A"/>
                </a:solidFill>
                <a:latin typeface="Arial"/>
              </a:rPr>
              <a:t>NAME — ____________________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395728"/>
            <a:ext cx="7269480" cy="685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395728"/>
            <a:ext cx="73152" cy="685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395728"/>
            <a:ext cx="6766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B2A"/>
                </a:solidFill>
                <a:latin typeface="Arial"/>
              </a:rPr>
              <a:t>TITLE / DESIGNATION — ____________________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191256"/>
            <a:ext cx="7269480" cy="685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91256"/>
            <a:ext cx="73152" cy="685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191256"/>
            <a:ext cx="6766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B2A"/>
                </a:solidFill>
                <a:latin typeface="Arial"/>
              </a:rPr>
              <a:t>QUALIFICATIONS — 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86784"/>
            <a:ext cx="7269480" cy="685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986784"/>
            <a:ext cx="73152" cy="685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86784"/>
            <a:ext cx="6766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B2A"/>
                </a:solidFill>
                <a:latin typeface="Arial"/>
              </a:rPr>
              <a:t>AREAS OF EXPERTISE — 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782312"/>
            <a:ext cx="7269480" cy="685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73152" cy="685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782312"/>
            <a:ext cx="6766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B2A"/>
                </a:solidFill>
                <a:latin typeface="Arial"/>
              </a:rPr>
              <a:t>TRAINING &amp; INDUSTRY EXPERIENCE — ____________________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5577840"/>
            <a:ext cx="7269480" cy="685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5577840"/>
            <a:ext cx="73152" cy="685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577840"/>
            <a:ext cx="6766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31B2A"/>
                </a:solidFill>
                <a:latin typeface="Arial"/>
              </a:rPr>
              <a:t>CONTACT — ____________________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YOUR FACILITATOR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Your Facilitator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3291840" cy="4663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3291840" cy="9144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9052" y="2011680"/>
            <a:ext cx="1417320" cy="1417320"/>
          </a:xfrm>
          <a:prstGeom prst="ellipse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052" y="237744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70332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31B2A"/>
                </a:solidFill>
                <a:latin typeface="Arial"/>
              </a:rPr>
              <a:t>Dr.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251960"/>
            <a:ext cx="3017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C6677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726948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6766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1B2A"/>
                </a:solidFill>
                <a:latin typeface="Arial"/>
              </a:rPr>
              <a:t>ROLE — Principal Trainer, Tertiary Infotech Academy Pte. Ltd.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551176"/>
            <a:ext cx="726948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551176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551176"/>
            <a:ext cx="6766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1B2A"/>
                </a:solidFill>
                <a:latin typeface="Arial"/>
              </a:rPr>
              <a:t>FOCUS — Linux, cloud, DevOps &amp; cybersecurity — hands-on systems administration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502152"/>
            <a:ext cx="726948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502152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502152"/>
            <a:ext cx="6766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1B2A"/>
                </a:solidFill>
                <a:latin typeface="Arial"/>
              </a:rPr>
              <a:t>DELIVERS — Courses on Linux, cloud administration, DevOps and software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453128"/>
            <a:ext cx="726948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453128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453128"/>
            <a:ext cx="6766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31B2A"/>
                </a:solidFill>
                <a:latin typeface="Arial"/>
              </a:rPr>
              <a:t>FOUNDER — Founder and lead instructor, Tertiary Infotech / Tertiary Courses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Your current experience with Linux — beginner to advanced.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Which of the five exam domains matters most to your day job.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Your CompTIA Linux+ exam timeline.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HOW WE WILL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Phones on silent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Keep the room focused — check messages at 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Participate actively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No question is too small; the discussion is the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Do every lab yourself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Type the commands on Killercoda — muscle memory wins exams.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Mutual respect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Agree to disagree; critique ideas, not people.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Be punctual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Return from breaks on time so nobody re-teaches.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Full attendance</a:t>
            </a:r>
          </a:p>
          <a:p>
            <a:r>
              <a:rPr sz="1350" b="1">
                <a:latin typeface="Arial"/>
              </a:rPr>
              <a:t>Attend all five days to get the most from the course.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Five-Day Learning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01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8611" y="2441448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861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61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System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6555" y="3268980"/>
            <a:ext cx="237744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5429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18891" y="2441448"/>
            <a:ext cx="411480" cy="411480"/>
          </a:xfrm>
          <a:prstGeom prst="ellipse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889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889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Services &amp;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6835" y="3268980"/>
            <a:ext cx="237744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457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59171" y="2441448"/>
            <a:ext cx="411480" cy="4114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917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917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Security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7115" y="3268980"/>
            <a:ext cx="237744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3485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9451" y="2441448"/>
            <a:ext cx="411480" cy="411480"/>
          </a:xfrm>
          <a:prstGeom prst="ellipse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945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945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Automation &amp; Scripting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7395" y="3268980"/>
            <a:ext cx="237744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7513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39731" y="2441448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973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973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Troubleshooting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846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C6677"/>
                </a:solidFill>
                <a:latin typeface="Arial"/>
              </a:rPr>
              <a:t>One domain per day  ·  Days 1–5: Domains 1–5 (Labs 1–30)  ·  9:30am–5:30pm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EXAM BLUEPRINT | XK0-006 V8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CompTIA Linux+ — Exam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Domain 1 — System Management (23%)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Objectives 1.1–1.7  ·  Labs 1–7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Domain 2 — Services and User Management (20%)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Objectives 2.1–2.6  ·  Labs 8–13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Domain 3 — Security (18%)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Objectives 3.1–3.6  ·  Labs 14–19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Domain 4 — Automation, Orchestration, and Scripting (17%)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Objectives 4.1–4.5  ·  Labs 20–24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Domain 5 — Troubleshooting (22%)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Objectives 5.1–5.5  ·  Labs 25–30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EXAM-ALIGNED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How This Deck Is Organised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course follows the five XK0-006 exam domains in blueprint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Inside each domain, content runs objective by objective (1.1 → 5.5).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Each objective: the concepts, condensed — then its hands-on lab, step by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Every lab maps to one exam objective, shown on its overview slide.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deck closes with exam registration, the practice exam and next steps.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LEARNER RESOURCES | LMS / TMS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1 — Go to the portal:  lms-tms.tertiaryinfotech.com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2 — Log in with your registered email (Send OTP or password)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3 — Open your course: CompTIA Linux+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4 — Download the slides, Learner Guide and Lesson Plan (open-book allowed)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01633"/>
            <a:ext cx="5257800" cy="300570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ACCESS THE LABS |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All 30 labs are on the course GitHub repository — one folder per lab: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https://github.com/tertiarycourses/C1162-CompTIA-LinuxPlus-Training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Option A — git clone, then open labs/lab-XX-*/README.md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Option B — Code ▸ Download ZIP, unzip, open the labs/ folder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Every lab runs free in the browser on Killercoda: https://killercoda.com/playgrounds/scenario/ubuntu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F42C1"/>
                </a:solidFill>
                <a:latin typeface="Arial"/>
              </a:rPr>
              <a:t>THE LINUX MINDSET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32520" y="68580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96012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749807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On Linux, everything is a file.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7315200" cy="82296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526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D7E0EA"/>
                </a:solidFill>
                <a:latin typeface="Arial"/>
              </a:rPr>
              <a:t>Files, directories, devices, sockets and processes are all reachable through the filesystem — master the shell and you master the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7150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F42C1"/>
                </a:solidFill>
                <a:latin typeface="Arial"/>
              </a:rPr>
              <a:t>COURSE MAXIM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DAD7"/>
                </a:solidFill>
                <a:latin typeface="Arial"/>
              </a:rPr>
              <a:t>DOMAIN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System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5887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D7E0EA"/>
                </a:solidFill>
                <a:latin typeface="Arial"/>
              </a:rPr>
              <a:t>23% of the exam | Objectives 1.1–1.7 | Labs 1–7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75504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6DDAD7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01 | EXAM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System Management —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04013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013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893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1.1  ·  Linux basics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Identify boot process steps, kernel, filesystems, and architectures.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04013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04013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893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1.2  ·  Device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Manage kernel modules, hardware components, and device utilities.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823210"/>
            <a:ext cx="5358384" cy="104013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823210"/>
            <a:ext cx="73152" cy="104013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914650"/>
            <a:ext cx="4901184" cy="893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1.3  ·  Storage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Configure LVM, RAID, partitions, and mounted storage.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823210"/>
            <a:ext cx="5358384" cy="104013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2823210"/>
            <a:ext cx="73152" cy="104013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14650"/>
            <a:ext cx="4901184" cy="893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1.4  ·  Network configuration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Set up hosts, DNS, interfaces, and network tools.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046220"/>
            <a:ext cx="5358384" cy="104013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46220"/>
            <a:ext cx="73152" cy="104013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137660"/>
            <a:ext cx="4901184" cy="893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1.5  ·  Shell operations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Use navigation, editing, redirection, and environment variables.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046220"/>
            <a:ext cx="5358384" cy="104013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046220"/>
            <a:ext cx="73152" cy="104013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137660"/>
            <a:ext cx="4901184" cy="893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1.6  ·  Backups and restores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Perform archiving, compression, and data recovery.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5269230"/>
            <a:ext cx="5358384" cy="104013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5269230"/>
            <a:ext cx="73152" cy="104013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360670"/>
            <a:ext cx="4901184" cy="893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1.7  ·  Virtualization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Deploy hypervisors, create VMs, and manage disk images.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01 |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Key Concepts — System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boot chain: firmware/UEFI → GRUB2 → kernel + initramfs → systemd; the FHS defines where files 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Storage stacks up: partitions → LVM (PV → VG → LV) → filesystem (ext4/xfs/btrfs), mounted via /etc/fstab.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network stack is read top-down: NetworkManager/Netplan config → ip/ss → DNS resolution → diagnostics.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Shell operations (redirection, pipes, text tools), backup (tar/rsync/dd) and virtualization (QEMU/KVM) round out the domain.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01 | OBJECTIVE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1.1 — Linux basics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Identify boot process steps, kernel, filesystems, and architectures.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Explain basic Linux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Directory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Understanding Linux Fundamentals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374" y="1481328"/>
            <a:ext cx="4374731" cy="48463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Where to Put Programs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FHS prohibits programs from creating individual directories in the /usr directory tree.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/usr typically holds non-core programs, with core apps in /bin and /sbin.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Allowed subdirectories directly under /usr: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bin: Contains most user commands.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lib: Contains libraries.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local: Contains local/sharable programs (may be empty).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initrd and initramfs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Linux supports a wide range of hardware and uses a standard kernel image for compatibility.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system must boot using a generic Linux kernel, but the location of the root filesystem needs to be known.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temporary early user space filesystem (initrd or initramfs) is used to load necessary modules and hardware configuration.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initrd: An old method using a RAM-based image as the temporary root filesystem, requiring compiled-in drivers for the filesystem.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mkinitrd: Command used to create the initrd image.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initramfs: A more common method using a compressed filesystem archive, loaded into RAM as the temporary root, and does not require hard-coded drivers.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66606"/>
            <a:ext cx="5257800" cy="47576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Booting with UEFI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UEFI Secure Boot complicates Linux installation by requiring signed boot images, initially only by Microsoft.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Disabling UEFI Secure Boot in the system configuration simplifies installation.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UEFI is better than the older MBR method overall.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/boot/efi is used in dual-boot systems to store boot files for different OSes.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Some distributions may or may not have a /boot/efi directory.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FAT32 EFI system partition contains .efi boot files.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1375"/>
            <a:ext cx="5257800" cy="56622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Booting via NFS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boot a diskless workstation from NFS, follow these steps: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Install/enable DHCP and TFTP services on the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Configure TFTP to support PXE booting.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Copy the appropriate image to the TFTP boot directory.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Ensure the server's firewall allows TFTP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Configure the DHCP server for PXE booting.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Booting via ISO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Booting from an ISO file allows creating an on-disk rescue environment for recovery or password resets.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Steps to boot from an ISO: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Download a Linux distribution's installation ISO.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a new install, create a rescue partition with an MS-DOS filesystem.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an existing system, resize partitions to create space for a rescue partition.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Copy the ISO to the partition and note its filename.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GRUB2 Command Names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GRUB2 command names may or may not include the "2" in different distributions.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example, Ubuntu omits the "2", while Fedora and CentOS include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check the correct command, type the grub portion and press Tab twice to see available options.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64852"/>
            <a:ext cx="5257800" cy="287927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Installing GRUB2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first step in getting GRUB2 installed is to have the tool write itself to the master boot record as follows: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command copies the boot sector image to disk and the remaining files to /boot.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the bootable partition is not /boot, you can override this default setting (e.g., /mnt/tmpboot).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Example 1-2, GRUB2 files are installed to /mnt/tmpboot, with directories created for the boot manager.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GRUB2 image and modules are located in the i386-pc directory.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method is commonly used for creating boot disks on an existing system with a temporarily mounted disk image.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09009"/>
            <a:ext cx="5257800" cy="259095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the GRUB2 Command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GRUB2 command line can be accessed during boot by pressing c to open a simple command prompt (grub&gt;).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you can’t boot normally, use the GRUB2 command line to inspect the system and boot a kernel.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ls command lists available devices in GRUB2.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GRUB2 uses a similar partition naming syntax to Linux.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Disks are numbered starting from 0, while partitions are numbered from 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first partition on the first disk is hd0,gpt1, corresponding to sda1 in Linux.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45615"/>
            <a:ext cx="5257800" cy="131774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Configuring GRUB2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GRUB2’s configuration file is grub.cfg (or grub2.cfg on some distributions).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GRUB2, the configuration is generated by scripts, making it more complex than GRUB’s simpler grub.conf.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grub-mkconfig command generates grub.cfg, and the output can be displayed on the screen or saved to a specified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grub-mkconfig takes inputs from /etc/default/grub and /etc/grub.d/.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/etc/default/grub sets various default configurations.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/etc/grub.d/ contains a series of shell scripts that contribute to the configuration.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73231"/>
            <a:ext cx="5257800" cy="246251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Common Commands at Boot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Boot parameters allow you to modify kernel options at the start of the boot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Common boot options include: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vga: Set framebuffer resolution (e.g., vga=2 for certain laptops).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apm: Disable APM (Automated Power Management) with apm=off or noapm.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init: Specifies the init process to run first (may not work with all systems).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panic=#seconds: Automatically reboots after a panic error, with a set delay.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Kernel Panic Causes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Kernel panic can be caused by various factors, including: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Corrupted hard disk sectors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Incomplete or corrupted kernel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 or directory permission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Invalid or nonexistent memory address 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Memory address conflicts with key codes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Device Types in /dev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/dev directory contains special files that serve as access points for physical and pseudo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Block devices (e.g., disks, optical drives) handle entire blocks of data at a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Character devices (e.g., keyboards, scanners) handle data one character at a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Subdirectories in /dev contain files related to a specific device type, like /dev/input for event-generating devices.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Link files are symbolic links pointing to other files, such as /dev/cdrom pointing to /dev/sr0.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special files in /dev: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Installing Software from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Advantages of installing programs from source code: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Allows inspection of code for bugs, security flaws, and optimization.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Available earlier than binary packages.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Compilation optimizes the program for the specific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Provides access to cutting-edge or beta software.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Familiarizes you with the installation process.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Makefile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Purpose: Contains instructions and compiling parameters to install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Usage: After the configure script updates the makefile, the make and make install commands are used to compile and install the software.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Make Command: Determines which parts of a program need recompilation and issues commands to do 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Sections in a Makefile: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Platform: Specifies the system's platform.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Debug: Defines error handling.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86756"/>
            <a:ext cx="5257800" cy="143546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Storage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Install the Device: Set up the physical 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Partition the Device: Divide the device into one or more partitions.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Create a Filesystem: Apply a filesystem to the partition(s).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Choose a Mount Point: Select or create a directory to mount the filesystem.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Mount the Filesystem: Attach the filesystem to the directory.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Configure Auto-Mount: Set the filesystem to mount automatically on boot.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Proc Filesystem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Unix Philosophy: "Everything is a file," meaning hardware and system/process state info is exposed on the filesystem.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/proc Directory: Contains information about each process and system hardware, including configurations like ioports, dma, and interrupts.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procfs: A pseudo-filesystem that exposes kernel information in a well-defined format without existing on real hardware.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Commands: Essential for resolving conflicts and viewing information directly from the /proc directory.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81649"/>
            <a:ext cx="5257800" cy="304567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Displaying DMI Table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dmidecode Command: Queries the DMI (Desktop Management Interface) table, which holds information from the system BIOS.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Purpose: Allows processes and commands to access hardware data without direct hardware queries.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Format: Information returned follows a specific format, typically reflecting the structure of the DMI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dmidecode Output Format: The first three items on the line include a unique identifier (handle), the type of information, and the size of the 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Viewing Output: To view the typically long output (100+ lines), it's recommended to use a pager like the less command for easier navigation.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Using less Pager: Use less to view dmidecode output, allowing easy scrolling and searching.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64101"/>
            <a:ext cx="5257800" cy="168077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Linux basics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Filesystem Hierarchy Standard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filesystem starts with the root ("/"), and files are accessible via unique paths. Unix and Linux have conventions for file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Basic Boot Process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Booting a Linux system involves a series of events leading to the login prompt. Key topics in the boot process: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What Is the Boot Process?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Linux boot process transitions from hardware power-on to a functional operating system. There are multiple initialization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System Boot Options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There are various ways to boot a system. Some methods require software installation and configuration on the local disk.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Booting via PXE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PXE requires a PXE-capable NIC on the client and a DHCP server that supports PXE on the server. The PXE server is more complex,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Boot Loaders and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BIOS provides basic functionality to boot a computer, allowing communication with peripherals and loading applications. The BIOS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1.1 | LINUX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Linux basics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GRUB Legacy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Early Linux boot managers, like LOADLIN.EXE and LILO, were simple but inflexible. LILO required rewriting to the disk for changes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GRUB2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GRUB2 is the current version of GRUB, used as the default since around 2010. GRUB2 was a core rewrite for improved stability and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Changes Made for GRUB2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GRUB2 uses grub.cfg instead of menu.lst or grub.conf for configuration. The grub.cfg file is generated by the grub-mkconfig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Demystifying Kernel Images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vmlinux is an uncompressed, statically linked kernel image used in earlier kernel distributions, limited to 512KB to fit in the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When Kernels Panic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Linux kernel is complex and may encounter issues such as hardware, driver, or software problems. When critical errors occur,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Identifying a Kernel Panic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Kernel panics are often identified by a panic message with trace information about the running process. Common symptoms include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 | OBJECTIVE 1.1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 — Boot Process &amp; Filesystem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Inspect a running Linux system's boot configuration, kernel command line, initramfs, and the standard Filesystem Hierarchy to understand how GRUB hands off to the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Identify the distro and kernel, inspect GRUB, the kernel cmdline, and initramfs, then tour the FHS and boot-related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/etc/os-release, GRUB2, /proc/cmdline, initramfs, lsinitramfs, FHS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labs/lab-01-*/README.md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Identify distribution and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cat /etc/os-release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Inspect GRUB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cat /etc/default/grub 2&gt;/dev/null ||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Inspect the kernel command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cat /proc/cmdline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Explore the initramfs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ls /boot/initrd* 2&gt;/dev/null || echo "no initrd image present"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1338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Tour the Filesystem Hierarchy (FHS)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258568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86000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for d in /bin /boot /dev /etc /home /lib /proc /sbin /sys /tmp /usr /var /run /o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88036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880360"/>
            <a:ext cx="73152" cy="113385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5351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Walk through key boot-related dirs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538728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566160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ls /etc/systemd/system/ | 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16052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4160520"/>
            <a:ext cx="73152" cy="1133856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60520"/>
            <a:ext cx="1051560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You can identify the running distro/kernel/arch and explain how GRUB, the kernel cmdline, and initramfs bring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01 | OBJECTIVE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1.2 — Device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Manage kernel modules, hardware components, and device utilities.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Summarize Linux device management concepts and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 | OBJECTIVE 1.2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 — Kernel Modules &amp; Device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List, inspect, load, and unload kernel modules and use the standard hardware-enumeration tools to understand modprobe vs insmod, module dependencies, and reading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Install discovery tools, inspect and load/unload a module, examine module dependencies, read the kernel ring buffer,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lsmod, modinfo, modprobe, insmod/rmmod, depmod, dmesg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labs/lab-02-*/README.md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hardware inspection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apt-get update -qq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List loaded modules and inspect 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lsmod | head -20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Load and unload a module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modprobe dummy 2&gt;&amp;1 || modprobe loop 2&gt;&amp;1 || echo "module load blocked"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Module dependencies and depmod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cat /lib/modules/$(uname -r)/modules.dep 2&gt;/dev/null | head 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Read the kernel ring buffer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dmesg | tail -20 2&gt;/dev/null || journalctl -k --no-pager | tail -20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Enumerate hardware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lscpu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initramfs builders 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which dracut 2&gt;/dev/null || echo "dracut on RHEL/Fedora/SUSE"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You can pick the right ls* tool for a hardware question and explain insmod vs modprobe vs depmod.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01 | OBJECTIVE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1.3 — Storage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Configure LVM, RAID, partitions, and mounted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manage storage in a Linux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Viewing SCSI Device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After creating a filesystem, use the lsscsi command to check which SCSI-related devices are recognized on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lsscsi output includes details such as host, controller, target, and logical unit number (LUN) for each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For NVMe devices, the device format differs (e.g., /dev/nvme1), but Linux systems often normalize it to the /dev/sdX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Common lsscsi options: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-b (--brief): Provides concise information on one 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-l (--long): Gives additional details on a second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lsblk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If you forget which device files are available, use the lsblk command to display block devices and their partitions.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/proc/partitions file also provides partition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/sys/block directory contains detailed information about block devices, including partitions, with additional files providing more data on each device.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26767"/>
            <a:ext cx="5257800" cy="135544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Performing Disk Partitioning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fdisk is used to manage MBR partition tables and changes are not written until explicitly saved.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start partitioning, run fdisk /dev/sdb (specifying the device).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Step-by-step example: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Launch fdisk and check the device with the p command.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Create a primary partition (n), choose partition type (p), and specify partition size (e.g., +1G).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Verify partition creation with 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Logical Volume Manager (LVM)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LVM (Logical Volume Manager) allows combining multiple physical disks into a pool (Volume Group, VG) and dividing it into Logical Volumes (LVs) for easier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Physical Volumes (PVs): Base storage units, typically hard disk partitions or SAN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Volume Groups (VGs): Pools formed by combining one or more PVs.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Logical Volumes (LVs): Divisions of VGs where filesystems are created for use by the operating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Flexible storage management: LVs can grow or shrink based on available space in VGs.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Easy to add more storage by adding new PVs to the VG.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83438"/>
            <a:ext cx="5257800" cy="304209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Managing LVM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Creating an LVM Device: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pvcreate to convert physical devices into physical volumes (PVs).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vgcreate to combine PVs into a volume group (VG).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lvcreate to create a logical volume (LV) from the VG 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Commands for Managing LVM: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pvs: Displays physical volumes.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Filesystem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Filesystem Checker (fsck):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Used to check and repair filesystems.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Specific tools: e2fsck for ext filesystems, dosfsck for DOS/FAT, fsck.btrfs for Btrfs, and xfs-repair for XFS.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Run fsck on unmounted or read-only filesystems to avoid corruption.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fsck can be auto-executed at boot if the filesystem is unclean.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Ext Filesystem Tools (ext2, 3, 4):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Storage Area Networks/NetworkAttached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NAS (Network-Attached Storage):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Simple setup, relatively inexpensive.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Uses TCP/IP network; provides file-level storage.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Suitable for smaller environments with fewer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Volumes are mounted over the network.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May have single points of failure in lower-end devices.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Storage management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Determining Storage Hardware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utilize hardware effectively, you first need to identify what hardware is available. Sometimes, hardware may not appear as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Viewing Partition and Filesystem Device File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After creating a filesystem, it’s typically easy to remember the device file used to access it. Upcoming sections will cover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blkid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When mounting a filesystem, device filenames (e.g., /dev/sda1) can change if hardware is added or removed. To avoid this, you can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(Non-Linux) fcstat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fcstat command is mentioned in the Linux+ exam objectives but is rarely used in practice. It's a command from AIX, not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fdisk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Disk partitioning divides a storage device into isolated sections called partitions, each with its own filesystem and data. It's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Partitioning with parted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MBR partition table has limitations: 2TB partition size limit, only 4 partitions (with workarounds using extended/logical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1.3 | STORAGE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Storage management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partprobe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partprobe is a useful tool for notifying the kernel of partition table changes without needing a reboot. It helps confirm the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Creating and Inspecting a Software RAID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create a software RAID device, use the mdadm command. Example: # mdadm -C /dev/md0 -l 1 -n 2 /dev/sdb /dev/sdc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Inspecting a Software RAID Device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view RAID device information, check /proc/mdstat: Example: # more /proc/mdstat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Understanding Multipath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Network Storage and Multipath: Remote storage devices depend on the network, which can be a point of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Manually Mounting Filesystems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If a filesystem isn’t in /etc/fstab, you can mount it manually using the following syntax: # mount -t type -o option device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Unmounting Filesystems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umount command works similarly to mount and can unmount by label, mount point, or device. Example to unmount /mnt/cdrom: #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3 | OBJECTIVE 1.3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3 — Storage with LVM, Partitions &amp; Filesystems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Build a complete LVM stack on loopback-backed disks, format with ext4/xfs/btrfs, mount with hardening options, persist in fstab, and grow a filesystem online.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Create loopback disks, partition, build PVs/VG/LVs, make filesystems, mount with hardening options into fstab, then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losetup, parted/GPT, pvcreate/vgcreate/lvcreate, mkfs.ext4/xfs/btrfs, blkid/UUID, /etc/fstab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labs/lab-03-*/README.md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3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tooling and create loopback disks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apt-get install -y lvm2 xfsprogs btrfs-progs parted util-linux &gt;/dev/null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Partition the first loopback disk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LOOP1=$(losetup -j /lab/disks/disk1.img | cut -d: -f1)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Create PVs, a VG, and LVs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LOOP2=$(losetup -j /lab/disks/disk2.img | cut -d: -f1)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Make filesystems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mkfs.ext4  -F /dev/labvg/lv_ext4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3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1338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Mount with hardening options and persist in fstab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258568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86000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/mnt/ext4 /mnt/xfs /mnt/btrfs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88036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880360"/>
            <a:ext cx="73152" cy="113385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5351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Grow a logical volume and its filesystem online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538728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566160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lvextend -L +100M /dev/labvg/lv_ext4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16052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4160520"/>
            <a:ext cx="73152" cy="1133856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60520"/>
            <a:ext cx="1051560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You can go from raw block device to a mounted, UUID-referenced, online-expandable filesystem; note XFS grows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01 | OBJECTIVE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1.4 — Network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Set up hosts, DNS, interfaces, and network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manage network services and configurations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ip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ip command is designed to replace many older network configuration commands (e.g., ifconfig).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ip addr show command displays network configuration data, similar to ifconfig.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ip command is used for tasks like managing IP addressing, linking network devices, handling routing tables, and configuring IP tunnels.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also manages TCP metric info.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ip command supports abbreviations for convenience.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ip command allows for shortened versions to save time and keystrokes, providing the same information.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96058"/>
            <a:ext cx="5257800" cy="261685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ifconfig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ifconfig: Used to view or set IP addresses for a host (excluding the default gateway).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also use it to bring up or activate network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To configure eth0 with IP 192.168.33.2, network mask 255.255.255.0, and activate the interface, use the appropriate command.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ifconfig displays activated interfaces.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 the -a switch to show all interfaces, including those that are down or not activated.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50121"/>
            <a:ext cx="5257800" cy="30873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Configuring via ifcfg-* files and network-scripts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ifcfg- files* are used to configure network interfaces.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 Red Hat systems, these files are located in the /etc/sysconfig/network-scripts directory.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example, to configure eth0, modify the ifcfg-eth0 file, which can also be edited with system-config-network.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 a command to display the ifcfg-eth0 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static IPv4 configuration will show output specifying an IP address, network mask, and gateway.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configuration ensures that the system uses a fixed IP address instead of obtaining one dynamically via DHCP.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32815"/>
            <a:ext cx="5257800" cy="74334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On Debian-based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Debian uses a single configuration file, /etc/network/interfaces, for all network interfaces.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Unlike Red Hat, Debian does not include the system-config-networking utility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Debian includes the netcardconfig program in some distributions, which performs similar tasks as system-config-networking.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/etc/network/interfaces file in Debian is used to configure network interfaces.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contents of the file define network settings, such as static IP addresses or DHCP configurations.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 output from the file can be referenced for understanding the structure of the configuration.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90038"/>
            <a:ext cx="5257800" cy="262890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arp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Hostnames need to be translated into IP addresses for communication, typically by a DNS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OSI model defines seven layers of networking, with Layer 2 handling communication via MAC addresses.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communicate, systems need both the IP and MAC addresses of the other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a system needs a MAC address for a remote IP, it sends a broadcast request. The machine with the matching IP responds with its MAC address.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MAC-IP pairing is stored in the system's ARP 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arp command is used to view or modify the ARP table.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00963"/>
            <a:ext cx="5257800" cy="80704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route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route command can help defend against attacks by misrouting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During a denial-of-service attack, you can add a route to route responses to the attacker's IP address through the loopback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effectively misroutes the traffic, mitigating the attack.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Redirecting traffic to the loopback address can cause the attacking host to time out quickly, temporarily stopping a denial-of-service attack.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isn't a permanent solution, but it works for local network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enable IP forwarding on a host, you can echo a 1 into the /proc/sys/net/ipv4/ip-forward file. This allows traffic to be forwarded between different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89485"/>
            <a:ext cx="5257800" cy="43000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Configuring Name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Local system name configuration involves several files: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/etc/hosts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/etc/resolv.conf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/etc/nsswitch.conf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These files configure local and remote name resolution and are distribution neutral, relevant for the Linux+ exam.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They work together to resolve the name for a host that client software needs to connect to.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24094"/>
            <a:ext cx="5257800" cy="29607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Controlling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resolvectl is a useful tool for resolving and enumerating hostnames, domains, and IP addresses.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It interacts with the systemd-resolved service to resolve both IP addresses to hostnames and domain names to destination addresses.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resolve a hostname locally, use the query subcommand followed by the hostname to resolve.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resolvectl shows its real power when querying remote domains.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provides authoritative information about the host, helping with detailed DNS resolution.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resolvectl can be used to query a domain's configuration and find specific service records.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071" y="1481328"/>
            <a:ext cx="4739337" cy="484632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ping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Ping command: Uses ICMP ECHO_REQUEST and ECHO_RESPONSE packets to check if a host is functioning or reachable.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Determine if a host is alive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Check if a network is reachable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Verify if a gateway is functioning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Traceroute: More useful for determining the route taken by packets.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returns output similar to the following: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65575"/>
            <a:ext cx="5257800" cy="127782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netstat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netstat Command Overview: Useful for network statistics, open sockets, and troubleshooting.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Common netstat Options: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-t: Displays TCP statistics.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-r: Shows the routing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-a: Lists all open sockets on all interfaces.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-c: Provides a refreshed view of statistics every second.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54970"/>
            <a:ext cx="5257800" cy="369903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Swimming with Wireshark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Wireshark Overview: A powerful network sniffer tool for viewing and troubleshooting network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Installation: Likely not pre-installed; use tools like yum or apt to install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Root Access Requirement: Network sniffing requires root access; keep this in mind for production/Internet-facing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Wireshark Tools: Available in both GUI (graphical) and TUI (text-based) versions.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GUI Launch: Start the GUI by executing the wireshark 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TUI-based Wireshark: Use the tshark command to access the text-based interface of Wireshark.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57101"/>
            <a:ext cx="5257800" cy="469477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tcpdump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Tcpdump command: A packet sniffer tool used to view network traffic, including traffic not related to the local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Default behavior: Displays all network traffic until terminated, which can result in a large amount of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Limiting output: Use the -c option to specify the number of packets to capture.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Capture based on criteria: The tcpdump command can filter captured packets.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Interface-specific capture: Use the -i option to capture packets from a specific network interface.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Limit by protocol: Use the protocol name as an argument to capture packets for a specific protocol (e.g., TCP, UDP).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5312"/>
            <a:ext cx="5257800" cy="55835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curl and wget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wget and curl: Used to script file downloads from remote sources as part of updates or 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You can use these commands to download files without requiring further interaction.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wget command: Used to download files, including the latest version of source code for tools like wget itself.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The command downloads the latest version of the wget source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curl vs wget: Both are used for downloading files, but curl is often used for downloading and executing scripts, especially in automated installations for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The same wget source code file can be downloaded using curl.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35539"/>
            <a:ext cx="5257800" cy="173789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nc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nc (netcat) command: A versatile tool for working with TCP and UDP, including opening TCP connections, sending UDP packets, port scanning, and supporting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Port scanning and testing: Useful for checking if a specific port is blocked by a firewall or for testing services by listening on arbitrary 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Error handling: Unlike telnet, nc separates error messages from standard output, making it easier to handle in scripts.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nc command usage: On a local system, use the nc command to listen for connections on a specific 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Remote connection: On a remote system, use the nc command to connect to the local system by specifying its hostname or IP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Blank line: After running the nc command locally, you should see a blank line indicating it's ready to accept a connection.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08736"/>
            <a:ext cx="5257800" cy="59150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SSH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SSH includes several components: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ssh: For remote shell sessions, replacing telnet, rsh, and rexec.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scp: For secure file transfers, replacing rcp.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sshd: The SSH daemon.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ssh-agent: A wrapper that handles authentication for the user's session.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ssh-add: Loads the user’s keys into the ssh-agent for authentication.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38318"/>
            <a:ext cx="5257799" cy="113233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sudoedit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sudoedit command is a safer alternative to using vi/vim when granting users access to edit configuration files with root privileges. Unlike vi/vim,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sudoedit command allows a user to edit files with root access using their preferred editor, without needing to log in as the root user. When a user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configure sudoedit, add the following line to the /etc/sudoers file: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Configure the newsudo group in /etc/sudoers to have the users you want to use sudoedit, and then all they need to do is run the command: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grant a user (e.g., ross) the ability to run all commands as the root user, you would add the following line to the /etc/sudoers file: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limit a user to a specific command, such as the /etc/rc.d/init.d/network command, add the following line: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33037"/>
            <a:ext cx="5257800" cy="34290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su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gain access to another user account with the su command, use the following syntax: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example, to switch to the root account, execute the following command: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Using the -l option (or just -), you can provide a login shell for the root user. A login shell ensures you get the full user environment, including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you don't specify an account name with the su command, it defaults to switching to the root account. Therefore, the following commands are equivalent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su - root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su -l root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56057"/>
            <a:ext cx="5257800" cy="209686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Network configuration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Interface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Network addresses are typically auto-configured during Linux installation. Deviating from the default configuration requires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iproute2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ip command from the iproute2 toolset is designed to replace the ifconfig and route commands from the older net-tools package.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Interface Management Commands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two main iproute2 tools for managing IP information are ip and ss. The ip command is the most commonly used and is now the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Examples of the ip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ip command is versatile and can be used for various tasks, which are important for answering ip-related questions on the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ss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ss command displays socket information. Running ss without options lists all open sockets.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NetworkManager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NetworkManager simplifies networking on Linux by automatically managing primary network connections (Ethernet, WiFi, Mobile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1.4 | NETWORK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Network configuration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nmtui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nmtui is an interactive tool that comes with NetworkManager. It is used for configuring network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nmcli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nmcli is a command-line tool for controlling NetworkManager. It's used to manage interface statuses and is ideal for scripts or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net-tools Suite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net-tools has been widely used but is being phased out since 2009. Linux+ exam requires knowledge of the following net-tools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hostname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hostname command is used to view and set the system's hostname and domain name. The hostname can be set using this command or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Name Resolution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Resolving names, such as local and remote hostnames, requires a system to translate human-friendly names into numerical IP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Setting Hostnames on systemd Systems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hostnamectl command is used for managing hostnames in systemd-based systems. There are three types of hostnames: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4 | OBJECTIVE 1.4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4 — Network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Inspect interfaces, addresses, and routes with ip; walk the name-resolution stack; validate a netplan YAML; and use the standard diagnostic toolbox to read a Linux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Install network tools, inspect interfaces/routes, walk the resolution stack, run DNS diagnostics, validate netplan,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ip -br link/address/route, /etc/nsswitch.conf, /etc/resolv.conf, getent, dig/nslookup, netplan generate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labs/lab-04-*/README.md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4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Network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apt-get update -qq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Interfaces, addresses, routes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ip -br 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Name resolution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cat /etc/hosts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DNS diagnostics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dig +short killercoda.com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4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Network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NetworkManager and netplan 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nmcli device status 2&gt;&amp;1 |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Sockets and connectivity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ss -tulnp | 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Packet capture and port scan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timeout 3 tcpdump -i any -nn -c 5 'icmp or port 53' 2&gt;&amp;1 &amp;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You can read the resolution path (nsswitch -&gt; hosts/resolv.conf -&gt; DNS) and pick the right diagnostic: ss,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01 | OBJECTIVE 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1.5 — Shell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Use navigation, editing, redirection, and environment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manage a Linux system using common shell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5 | OBJECTIVE 1.5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5 — Shell Operations &amp; Text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Work with shell environment variables, login vs interactive startup files, every common redirection form, and the classic text-processing pipeline to assemble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Explore env vars and PATH, paths and startup files, all redirection operators, then grep/cut/sort/uniq, sed/awk,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export/env/unset, login vs interactive shells, redirection &gt; &gt;&gt; &lt; &lt;&lt; &lt;&lt;&lt; | tee, grep/cut/sort/uniq/wc, sed/awk, tr/xargs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labs/lab-05-*/README.md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5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Environment variables and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"USER=$USER  HOME=$HOME  SHELL=$SHELL"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Absolute vs relative paths and startup 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/tmp/lab5 &amp;&amp; cd /tmp/lab5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Redirection operators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"first line"  &gt; out.txt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grep, cut, sort, uniq, wc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cp /etc/passwd 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5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sed and awk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sed -n '1,5p' passwd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head, tail, tr, xargs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head -3 passwd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Editors: nano and vim, scripted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apt-get install -y vim nano &gt;/dev/null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You can compose grep/awk/sed/cut/sort/uniq/tr/xargs into ad-hoc pipelines and know which startup file each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01 | OBJECTIVE 1.6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1.6 — Backups and restores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Perform archiving, compression, and data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perform backup and restore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6 | OBJECTIVE 1.6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6 — Backup &amp; Restore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Create tar/cpio/dd archives with gzip/bzip2/xz compression, image and recover disks with dd and ddrescue, mirror trees with rsync, and verify integrity with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Make sample data, archive with tar and cpio, dd a disk image, recover a damaged one with ddrescue, mirror with rsync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tar (czf/xzf/tzf), cpio, dd, ddrescue, rsync --delete, sha256sum -c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labs/lab-06-*/README.md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6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Backup &amp; Restore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tooling and create sample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apt-get install -y tar cpio gzip bzip2 xz-utils rsync gddrescue coreutils &gt;/dev/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tar with gzip, bzip2, and xz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/lab6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cpio (the older archiver)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/lab6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dd a disk image to a loopback 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/lab6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6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Backup &amp; Restore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ddrescue from a damaged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/lab6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rsync local-to-local with delete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/lab6/mirror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Integrity and reading compressed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/lab6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You can choose tar/cpio/dd/ddrescue/rsync appropriately and know sha256sum -c and rsync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01 | OBJECTIVE 1.7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1.7 — Virtualization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Deploy hypervisors, create VMs, and manage disk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Summarize virtualization on Linux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7 | OBJECTIVE 1.7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7 — Virtualization with QEMU/KVM &amp; libvirt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Install QEMU and libvirt, manipulate virtual disk images with qemu-img, list libvirt domains/networks with virsh, and boot a tiny guest under QEMU to discuss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Install QEMU/libvirt, create and inspect disk images, convert/resize them, take qcow2 snapshots, list libvirt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QEMU vs KVM, /dev/kvm vs TCG, qemu-img (qcow2/raw), qemu-img convert/resize, qcow2 snapshots, virsh list/net-list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labs/lab-07-*/README.md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7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QEMU and libvirt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apt-get install -y qemu-system-x86 qemu-utils libvirt-clients libvirt-daemon-sys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Create and inspect disk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/lab7 &amp;&amp; cd /lab7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Convert and resize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/lab7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Snapshots inside a qcow2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/lab7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7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libvirt: domains and networks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systemctl start libvirtd 2&gt;/dev/null || service libvirtd start 2&gt;/dev/null || tr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Boot a minimal guest under QEMU (TCG fallback)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/lab7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Discuss network modes (concept)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Bridged   : guest is a peer on the LAN with its own DHCP 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You can distinguish QEMU (emulator) from KVM (accelerator), qcow2 from raw, internal vs libvirt snapshots,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01 |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Recap — System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 — Boot Process &amp; Filesystem Hierarchy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40280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240280"/>
            <a:ext cx="73152" cy="59436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40280"/>
            <a:ext cx="10469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 — Kernel Modules &amp; Device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944368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944368"/>
            <a:ext cx="73152" cy="59436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944368"/>
            <a:ext cx="10469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3 — Storage with LVM, Partitions &amp; Filesystems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48456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648456"/>
            <a:ext cx="73152" cy="59436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648456"/>
            <a:ext cx="10469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4 — Network Configuration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352544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352544"/>
            <a:ext cx="73152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352544"/>
            <a:ext cx="10469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5 — Shell Operations &amp; Text 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056632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056632"/>
            <a:ext cx="73152" cy="59436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56632"/>
            <a:ext cx="10469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6 — Backup &amp; Restore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5760720"/>
            <a:ext cx="10972800" cy="59436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5760720"/>
            <a:ext cx="73152" cy="59436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760720"/>
            <a:ext cx="10469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7 — Virtualization with QEMU/KVM &amp; libvirt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240280"/>
            <a:ext cx="2313432" cy="8229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131B2A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08C95"/>
                </a:solidFill>
                <a:latin typeface="Arial"/>
              </a:rPr>
              <a:t>See you tomorrow — 9:30 AM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DAD7"/>
                </a:solidFill>
                <a:latin typeface="Arial"/>
              </a:rPr>
              <a:t>DOMAIN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Services and User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5887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D7E0EA"/>
                </a:solidFill>
                <a:latin typeface="Arial"/>
              </a:rPr>
              <a:t>20% of the exam | Objectives 2.1–2.6 | Labs 8–13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75504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6DDAD7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02 | EXAM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Services and User Management —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2.1  ·  Files &amp; directories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Control permissions, create links, and manage special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2.2  ·  Account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Add, remove, and modify users and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2.3  ·  Process control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Monitor states, adjust priorities, and schedule jobs.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2.4  ·  Software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Install, update, or remove packages and repositories.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2.5  ·  Systems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Start, stop, and review services, logs, and timers.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2.6  ·  Containers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Operate container runtimes, manage images, and create networks.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02 |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Key Concepts — Services and User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Everything is a file: manage files/links/devices, and local accounts via /etc/passwd, /etc/shadow and /etc/group.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Processes have states, priorities and signals; jobs are scheduled with at, cron and anacron.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Software is installed with apt/dpkg and dnf/rpm, plus language (pip/npm/cargo) and sandboxed (snap/flatpak) managers.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systemd manages services, timers, mounts and targets; containers (Docker/Podman) package and isolate applications.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02 | OBJECTIVE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2.1 — Files &amp; directories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Control permissions, create links, and manage special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manage files and directories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Advanced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".." pairs move up one level in the directory hierarchy.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first ".." takes you to /home1, and the second ".." brings you to the root directory.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After reaching the root, relative paths are 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directory you end up in depends on your starting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relative path doesn’t begin with a "/" and indicates the path is relative to the current directory.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single dot (.) represents the current directory, useful in commands like find.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41881"/>
            <a:ext cx="5257800" cy="72521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Listing Files and Directories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ls command lists files and directories.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used for multicolumn output, it only shows file or directory names, not additional details about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the -l option with the ls command for a long listing.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option shows detailed information about files or directories in a single column.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-l option with ls shows permissions, ownership, and link counts, which are not displayed in regular ls 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stat command can also provide detailed information for a single file or directory.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99639"/>
            <a:ext cx="5257800" cy="200969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Touching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touch command creates new files if they don't exist or updates their timestamps if they 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is commonly used to create blank files (e.g., log files) or update a file's modification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touch command can be used with relative pathnames to create files in the current directory.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You can use an absolute pathname with the touch command to create a file in a specified 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touch command is useful for creating log files and using a reference file to mark the last successful backup.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When used on an existing file, touch updates all three file times: access, change, and modify.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66338"/>
            <a:ext cx="5257800" cy="87630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Copying Files and Directories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Copying a file creates a new file with a separate inode, which is a unique identifier assigned by the filesystem.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An inode is a pointer to a file on disk and is essential for file existence; a file cannot exist without an inode.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contrast, moving a file keeps the same inode but changes the file's name (if within the same filesystem).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When copying files, the new file gets its own permissions, which may differ from the original unless the -p option is used to preserve permissions and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Only the root user can change file ownership; regular users copying files will own the new copies.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normal copy simply replicates the file to a new location.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88403"/>
            <a:ext cx="5257800" cy="83217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Moving Objects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cp command creates a new file with a separate inode and data, while the mv command only changes the file's directory or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If the mv command moves a file within the same device, it only alters the file's metadata (directory entry).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Moving a file across devices involves copying the file to the new device and deleting it from the old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You can use the stat command to check file details, such as metadata, after creating a file (e.g., file1).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moving a file, the inode and device remain the same, and the change time reflects the renaming.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mv command overwrites the destination file if it exists, but the -i option prompts for confirmation before overwriting.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31602"/>
            <a:ext cx="5257800" cy="154577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Creating and Removing Directories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To create a directory, use mkdir dir1.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create a subdirectory inside a directory, use mkdir dir1/subdir1.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last segment in a directory path represents the object being created or removed, while the rest are parent objects.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Both mkdir and rmdir can handle directory structures, with mkdir having the -p option to create a full subdirectory tree (creating missing parent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rmdir command can only remove empty directories.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It targets the last directory in a path (e.g., /dir1/dir2/dir3/dir4).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32868"/>
            <a:ext cx="5257800" cy="34323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file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file command uses multiple sources to determine file types, including system calls, the magic number file (/usr/share/magic), and character sets like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can also identify files by recognizing strings from programming languages or other formats.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output of the file command can be manipulated and filtered to display useful information about the file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Running the file command on a known binary reveals details about the file's architecture and layout.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Running the file command on a directory shows the types of files, but the output can be filtered using the pipe (|) and grep commands.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Filtering with grep allows you to focus on specific results, such as finding "empty" files.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46151"/>
            <a:ext cx="5257800" cy="151667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stat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stat command is very useful, providing detailed file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can also be used in conjunction with other commands to reveal even more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use stat, simply invoke it with a file or filesystem object as the argument to view the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stat command provides much more information than ls -l, including file type (similar to file), inode number, and device 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Information displayed by stat includes: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File: Filename on the filesystem.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47844"/>
            <a:ext cx="5257800" cy="111328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Symbolic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symbolic (symlink) is used to create a shortcut from one object to another.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symlink has its own inode and stores the path to the linked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Symlinks can span filesystems and directories because they are independent files with their own inode.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For example, to allow multiple users to access a remote disk mounted at /mnt/projdata, you can create a symlink in each user's home directory pointing to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symlink's listing shows where it points, and its permissions are set to the maximum to avoid affecting the target file's permissions.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Changing permissions on a symlink affects the target file, not the symlink itself.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17553"/>
            <a:ext cx="5257800" cy="297386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Hard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hard link is an additional name in a directory that points to the same inode as the original file, sharing all aspects except the filename.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Hard links are useful for ensuring files, like important data, are easily restorable after being accidentally deleted.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For example, to back up Jaime's important contactlist.txt file, you can create a hard link from the file in his home directory to a location in the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link count for a hard-linked file indicates how many names point to the same inode.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stat command won't show other filenames for a hard link, only the link 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file's name and location are not stored in the inode, which is important for understanding hard links.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97970"/>
            <a:ext cx="5257800" cy="181303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tar command is essential for archiving and file management, originating from the term "tape archive."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packages multiple files into one, often for tape backup, but can also output to disk.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tar allows for various transformations, such as splitting archives, excluding files, and changing directory names.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can extract files from a .tar archive (tarball) and allows selective file extraction and renaming.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tar can also work with compression utilities like gzip, bzip2, and xz, resulting in compressed archive files (.tar.gz, .tar.bz2, .tar.xz).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tar syntax includes the command itself followed by options (e.g., xvjf) and filenames.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99590"/>
            <a:ext cx="5257800" cy="80979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Compression Utilities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Linux and Unix tools follow a "toolset mentality," where each tool specializes in a single task and works well with others.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Compression utilities like gzip, bzip2, and xz are commonly used with the tar command to reduce archive file sizes.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These compression utilities have corresponding decompression tools: gunzip, bunzip2, and unxz.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tar command creates an archive without compressing files, while these compression tools reduce the size of individual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compress a tar archive, use the -z option for gzip and add the .gz suffix to the filename.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create a tar archive with bzip2 compression, use the -j option.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9370"/>
            <a:ext cx="5257800" cy="55023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tar with Compression Utilities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Compression Efficiency (Highest to Lowest):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Highest: xz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Medium: bzip2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Lowest: gzip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Developed on Unix but mainly used on PC platforms.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Unlike tar, zip doesn’t automatically replace files with compressed versions; it works more like a combination of tar and a compression tool.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Taking Pity on the Unarchiver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Best Practice for Creating Tar Archives: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It's considered proper to archive files by specifying the directory that contains them, rather than just the files in the current directory.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ensures that the extracted files appear in a single directory, not directly in the current working directory.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 of Proper Archiving: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archive the contents of /etc directory: tar -cf etc.tar /etc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When unarchived, the /etc directory appears in the current directory.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the dd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dd Command Overview: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dd is used for creating backup images (e.g., ISO files) of CDs, DVDs, and for duplicating devices.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operates on raw device files and full file paths on the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Common usage examples: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Creating a boot disk: dd if=/mnt/cdrom/images/boot.img of=/dev/sdb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Creating an image from a USB device: dd if=/dev/sdb of=/root/usb.img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Compression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Tar vs Compression Commands: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tar gathers files into an archive, while gzip, bzip2, and xz compress the archive.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These compression tools replace the original files with compressed versions (e.g., .gz, .bz2, .xz extensions).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Compression Utilities: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gzip: Widely used, compresses files to .gz.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Compress: gzip 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Navigating Within a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Cursor movement keys: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h: Left (like Left Arrow key)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j: Down (like Down Arrow key)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k: Up (like Up Arrow key)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l: Right (like Right Arrow key)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Ctrl key combinations: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255" y="1481328"/>
            <a:ext cx="4782969" cy="484632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nano’s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nano has a user-friendly interface with onscreen keystroke hints, unlike vi/vim which is more minimalistic.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Ctrl key is used with other keys for actions, such as Ctrl+X to exit (prompts to save or discard changes).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^ character in nano's interface denotes the Ctrl key, followed by the character to press.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Uppercase letters in the interface are for readability, but you don't need to press Ctrl+Shift for commands.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Meta key (accessed via Esc key) allows actions like Esc + U for Undo and Esc + E to restore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nano may also allow using the Windows key (PC) or Cmd/Apple key (Mac) as the Meta key, depending on the system configuration.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10284"/>
            <a:ext cx="5257800" cy="278840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Files &amp; directories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Tips for Working with Linux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Hidden Files: Files starting with a dot (e.g., .bashrc) aren't truly hidden; they're just not displayed by default. Filenames: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Basic Navigation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cd Command: Used to change the current working directory. Absolute Pathname: You can move to any directory (e.g., /etc) using the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Removing Objects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rm command is typically used to remove files, while rmdir is used for removing empty directories. To remove a file without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File Metadata and File Types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Linux, everything is treated as a file, and it's important to understand the different file types. Since Linux doesn't require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Displaying File Metadata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Relying only on the ls command means you miss out on valuable information about files. The file command and the stat command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Soft and Hard Links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Links are useful for allowing users to access files or run commands without needing to navigate the entire system.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2.1 | FILES &amp; DIRECTORIES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Files &amp; directories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Linking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There are two types of links: symbolic (soft) links and hard links, each with its own advantages and disadvantages. Sysadmins use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File Compression, Archiving, and Backup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Archiving and restoring files has evolved significantly over time, moving beyond older methods like tape drives. System operators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Useful Creation Options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Useful tar Archive Options: -b: Sets the block size for the media you're archiving to (e.g., for tape devices).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Listing Archive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Listing Tar Archives: Use tar -tf archive.tar to list the contents of a regular tar archive.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Using cpio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cpio Command Overview: The cpio command is used for copying files to and from an archive, and can be used for backups, though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Backing Up Is Hard to Do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Successful Restore is Crucial: A good backup is only useful if you can restore the data properly and quickly. Backup Methods: The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8 | OBJECTIVE 2.1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8 — File &amp; Directory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Practice core file and directory operations: navigating, creating, copying, searching, linking, and inspecting special device files with standard Linux utilities.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Create a lab tree, then copy, find, link, diff, and inspect files and /dev device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ls -la / stat / file, find predicates (-name, -mtime, -size), locate &amp; updatedb, lsof, diff &amp; sdiff, hard vs symbolic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labs/lab-08-*/README.md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8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Navigate and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pwd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Create, copy, move, touch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touch src/file1.txt src/file2.log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Find files by name, time, and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dd if=/dev/zero of=src/big.bin bs=1M count=5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locate and lsof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-y &amp;&amp; apt install -y mlocate lsof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8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diff and sdiff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-e "alpha\nbravo\ncharlie" &gt; a.txt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Hard links vs symbolic links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"original" &gt; target.txt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Device files in /dev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ls -l /dev/sda /dev/null /dev/tty1 2&gt;/dev/null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ls -li confirms hardlink shares the target's inode while the symlink breaks after the target is removed.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02 | OBJECTIVE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2.2 — Account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Add, remove, and modify users and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perform local account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Regular User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 Linux systems, typical user UIDs range from 500 to 65,000, but this can cause issues in larger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manage both local and network accounts, it’s recommended to assign UIDs from 10,000 to 65,000 for network accounts (such as NFS and NIS) and from 500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managing a system with both network and local accounts, user account data can be stored in different places: local files like /etc/passwd and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command searches both local and network sources in an order determined by the /etc/nsswitch.conf 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files nis means “search local files first and then search the database for the specified value.”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93985"/>
            <a:ext cx="5257800" cy="122100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User Entries in /etc/passwd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user’s entry in the /etc/passwd file consists of the following: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/etc/passwd file contains user account details with the following format: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Username (ross): The user's name (should be 8 characters or fewer, typically lowercase).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x: Indicates that the password is stored in /etc/shadow for security.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500: The user’s UID (User ID).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100: The user’s primary group ID.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68104"/>
            <a:ext cx="5257800" cy="27276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Group Passwords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user can have only one primary group, but if they need to assign an object to another group, they can use the chgrp command. While this is simple for a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Another option is for a user to temporarily change his or her primary group with the newgrp command. For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newgrp command allows users to temporarily change their primary group to any group they're a member of, without altering the /etc/passwd or /etc/group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However, users can only switch to groups where they are secondary members. Additionally, a password can be assigned to a group using the gpasswd command,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81695"/>
            <a:ext cx="5257800" cy="104558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Adding Users with useradd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useradd command is used to create new user accounts with default settings, such as the default primary GID and home directory. To add a user with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 a Red Hat system, the useradd command performs several actions when creating a new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Assigns the user a new UID, typically above 500.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Creates a group with the same name as the username and assigns it the same GID.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Sets the user's primary GID to the new 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Creates a home directory for the user in the /home directory (e.g., /home/snuffy).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47427"/>
            <a:ext cx="5257799" cy="31412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skel Templates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When using the useradd command with the -m and -d options, a home directory is created for the user. By default, this new home directory is populated with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example, the command useradd -m -d /home/snuffy snuffy creates the home directory /home/snuffy, copies the contents from /etc/skel into it, and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customize a new user’s home directory by adding files or directories to the /etc/skel directory. For example, to create a special directory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Copy /etc/skel to /etc/skel–payroll–staff.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Populate /etc/skel–payroll–staff with the files and directories needed for payroll staff.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creating a user from the payroll department, specify this template directory using the appropriate command syntax.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23184"/>
            <a:ext cx="5257800" cy="36260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Adding Groups with groupad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groupadd command is used to add a new group and is simpler than the useradd command. To add a group with default settings, you can use the following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command creates a group with a GID determined by using the “next available” number above 500. The result should be an entry like the following in the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groupadd command creates a group, but no users are added by default (the last field for users is empty). To add users to a group, the usermod command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36887"/>
            <a:ext cx="5257800" cy="73520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Removing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When a user leaves the company, you can either delete their account and keep the home directory (for a replacement, perhaps) or remove both the account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remove the user along with his home directory, you execute the following command: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cannot delete a user who is currently logged in. Before deleting the account, you need to figure out why the user is still logged in. On some Linux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you don't receive an error message when attempting to delete a logged-in user, use the ps command to find the login shell's PID. First, lock the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shouldn’t remove a user’s home directory right away because it may contain important files or evidence. If you're planning to replace the user, it’s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Seeing a home directory with only a UID (e.g., UID 1002) instead of a username can be a helpful clue that the user has been deleted. Since the home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54039"/>
            <a:ext cx="5257800" cy="190089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Removing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Before deleting a group, make sure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Confirm the group has no secondary members.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Verify the group isn’t the primary group for any user accounts.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 the find command to locate all files owned by the group, then change the group ownership of those files to another group.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delete a group, execute the groupdel command: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20264"/>
            <a:ext cx="5257800" cy="76844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Encrypted Passwords and Shadow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following is an example from the /etc/passwd file on a system that doesn’t use the Shadow Suite: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the /etc/passwd file, the second field contains an encrypted password string, which can be viewed by all users, posing a security risk. However, when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the Shadow Suite is installed, encrypted passwords are stored in the /etc/shadow file for user accounts and in the /etc/gshadow file for group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/etc/shadow file entry contains the following fields for a user: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Login name: The user's login name (e.g., snuffy).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Password: The user's encrypted password.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63528"/>
            <a:ext cx="5257800" cy="28192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Account management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User Account Fundamentals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User and group accounts are identified by their user ID (UID) and group ID (GID) in the kernel, not by the human-readable names.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What Accounts Are What?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/etc/passwd file contains various system accounts, each assigned a UID between 0 and 499. Some of the most important accounts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Special Login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Several files control a user's login behavior and access on a Linux system: /bin/false: Sets the user's shell to prevent login,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Group Accounts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Linux and Unix, groups are used to organize users. Groups cannot be nested. Users are associated with groups in two ways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Group Entries in /etc/group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entries in the /etc/group file are simpler and shorter than those in the /etc/passwd file. Each entry consists of the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Adding Users and Groups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While it's possible to edit the /etc/passwd and /etc/group files directly, doing so can cause significant issues if errors are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2.2 | ACCOUNT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Account management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useradd Defaults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On Red Hat-based systems, the useradd command's default settings are defined in the /etc/default/useradd file. These defaults can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Default Shell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For example, to change the default shell from /bin/bash to /bin/tcsh, execute the command. Debian-based systems also use this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Modifying Users and Groups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Creating users and groups is only part of system management; maintaining them in a dynamic environment is equally important. This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Modifying User Accounts with usermod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modify a user account using the usermod command, several options can be used based on the changes needed: -c: Modifies the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Modifying Groups with groupmod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groupmod command is used to modify a group's attributes, primarily for changing a group's name and GID. To modify a group's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Removing Users and Groups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Removing users and groups in Linux is straightforward, but there are important details to consider. Unlike Windows, which uses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9 | OBJECTIVE 2.2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9 — Local Account &amp; Group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Create and manage local users and groups, set passwords and aging policies, change shells, and distinguish user, system, and service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Create users/groups, set passwords and aging, inspect identity databases, then remove the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/etc/passwd, /etc/shadow, /etc/group, /etc/skel, useradd / adduser / usermod -aG, chpasswd, passwd -S, chage, chsh,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labs/lab-09-*/README.md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9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Inspect account databases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head -5 /etc/passwd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Create users and groups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groupadd developers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Passwords and aging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"alice:Passw0rd!" | chpasswd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Change shell and identify accounts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chsh -s /bin/sh bob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9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User vs system vs service accounts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awk -F: '$3 &gt;= 1000 &amp;&amp; $3 &lt; 65534 {print "USER  ", $1, $3}' /etc/passwd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Login history and active sessions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last | 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Remove users and groups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userdel -r bob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getent passwd bob returns nothing after userdel -r, confirming the account and home directory are gone.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02 | OBJECTIVE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2.3 — Process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Monitor states, adjust priorities, and schedule jobs.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manage processes and jobs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Managing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Managing programs and processes is crucial for running a Linux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Viewing processes can be done using the ps command, which shows process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ps command has various switches to format the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Example: To display processes started by a user and the user's shell, just type ps in the terminal.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default ps command provides a simple view of the system’s processes.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basic view omits background or non-terminal-associated processes.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21336"/>
            <a:ext cx="5257800" cy="216630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What’s the Diff?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Confusion exists about using ps aux vs. ps -aux due to different command styles.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BSD style: Options can be grouped (e.g., aux) without a dash.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POSIX/Unix style: Options must be preceded by a dash (e.g., -aux).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Linux supports both styles for the ps command.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pstree command can be used to show the hierarchical structure of processes.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ps and pstree commands have many options.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97807"/>
            <a:ext cx="5257800" cy="461336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Interpreting Displayed Information from free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free command has several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Before exploring execution examples, it’s important to understand the definitions of the output columns.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definitions for these columns are available in the free man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data displayed by the free command comes from raw files in the /proc/meminfo directory.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free command organizes and presents this data for easier viewing.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total column shows the total RAM on the system.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37255"/>
            <a:ext cx="5257800" cy="153446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pgrep and pkill to Send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Using ps and kill is fine for individual processes, but for multiple processes, pgrep and pkill are more efficient.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pgrep is used to search for processes by name, and pkill sends signals to those processes.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pgrep is like an investigator (searching for processes), and pkill is the enforcer (sending signals).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You can search for processes using a string or regular expression (e.g., ps aux | grep -i "Chrome Helper").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Instead of manually killing each PID, you can use pgrep to search for processes and return their PIDs efficiently.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pgrep returns the PIDs matching the search, similar to the output from ps aux, but only shows the PIDs.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42343"/>
            <a:ext cx="5257800" cy="27242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Killing Processes Using Other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Sometimes, you can't kill a process by PID, or there are too many similarly named processes to kill individually.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killall is used to kill multiple processes by name, making it easier to target all processes of a certain type (e.g., Chrome or Netscape).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use killall, you can first run ps aux to find the process names, then execute killall followed by the process name to terminate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pkill is a more advanced process kill command that can target processes based on criteria like name, PID, username, session ID, and terminal.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using multiple criteria with pkill, all must match for the signal to be sent.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pgrep is commonly used to test pkill commands before executing them.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93454"/>
            <a:ext cx="5257800" cy="82206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Job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Job control allows running multiple commands in the background while working in the foreground.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put a command in the background, use the &amp; character (e.g., command1 -option &amp;).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Start a task (e.g., editor).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Suspend the task with Ctrl+Z.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Check task status with jobs.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Send the job to the background using bg.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30333"/>
            <a:ext cx="5257800" cy="154830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Managing Process Priorities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Linux uses a combination of priority and scheduling to manage multiple processes.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 single processors, it creates the illusion of multitasking; on multiple processors, it enables true multitasking.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Process priorities range from -20 (highest priority) to 19 (lowest priority).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process's default priority is 0 unless set otherwise by the programmer.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Users can start processes with a priority from 0 to 19, but only root can start processes with a higher priority (from 0 to -20).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Too many processes running at a high priority can slow down or even crash the system.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81276"/>
            <a:ext cx="5257800" cy="124642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Booting with systemd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When booting a system with systemd, the process resembles SysVinit's init script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system starts systemd/init from GRUB, which then begins reading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first file read after the kernel and initramdisk is usually default.target, which is a symlink to multi-user.target.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Despite appearing simple, the boot process involves a more complex 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boot process is more complex than it seems, with dependencies between targets.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graphical.target requires multi-user.target.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64166"/>
            <a:ext cx="5257800" cy="188064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Listing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list all services or units on a system, use the appropriate systemctl command.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systemctl command shows all active units on the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a unit is in an "exited" state, it may indicate an error or that it is a non-daemon service that has finished running.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display all loaded units, including inactive ones, use a different systemctl command.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command shows all active and inactive services/units on the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lists all available services/units on the system, regardless of their state or status.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9164"/>
            <a:ext cx="5257800" cy="55064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Service Start, Stop, Restart, and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To start a service, use systemctl start servicename.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the service is not already running and you have the necessary permissions, it will be started.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It's a good practice to check the service's status first by using systemctl status servicename.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output in the example shows that the "tuned" service is loaded, active, and enabled by default, meaning it will run after boot.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stop the "tuned" service, use the systemctl stop servicename 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After stopping the service, you can query its status using the same systemctl status servicename command.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17975"/>
            <a:ext cx="5257800" cy="357302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Scheduling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Masking a service creates a symlink to /dev/null, preventing the service from loading.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Even if the service exists elsewhere, the symlink to /dev/null takes precedence.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unmask a service, simply remove the symlink to /dev/null.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Cron is the main job scheduler in Linux, executing jobs on a fixed schedule.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Jobs can be any command or script run on the command 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Cron is typically used to schedule intensive tasks during off-peak times to optimize system performance.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31843"/>
            <a:ext cx="5257800" cy="3452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Issues About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Cron runs with a minimal environment, not executing .bash-profile or .bashrc.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This results in a basic PATH and potentially missing environment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check, you can add a cron entry that outputs the environment variables for debugging.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You can set environment variables in the crontab, including the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Special cron variables include: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MAILTO: Sends job output to a specified email address.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7110"/>
            <a:ext cx="5257800" cy="231475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Dealing with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Cron jobs send their output to the user’s email by default.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handle output in three ways: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Accept the emails, though this may lead to inbox clutter.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Modify scripts to only generate output in case of an error.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Redirect output to /dev/null to discard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Each approach has pros and cons, and the best choice depends on the nature of the job.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45188"/>
            <a:ext cx="5257800" cy="51859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at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at command schedules a task to run once at a specific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Jobs are queued in the /var/spool/at directory, with each job represented by a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at command is used for one-off or infrequent tasks, like reminders or sysadmin duties.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using the at command, type the desired time (e.g., "at 2pm today") to get the at&gt; prompt.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Type the command to be executed, press Enter, and press Ctrl+D to end the task.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notice marks the end, and job scheduling info is displayed.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10745"/>
            <a:ext cx="5257800" cy="198748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batch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batch command is similar to the at command but runs jobs when the system load average is below a certain threshold, indicating the system has enough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Both batch and at use system load average to determine when to run jobs.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load average is displayed when you run the w (who) command.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load average represents the average number of processes waiting to run over the past 1, 5, and 15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load average of 0.60 over 5 minutes means the system was busy 60% of the time during that interval.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Systems with two CPUs are considered busy when the load average is 2.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89987"/>
            <a:ext cx="5257800" cy="62900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Process control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htop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htop command provides a graphical, user-friendly way to monitor system processes. It supports mouse usage and has color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free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free command shows detailed information about system memory usage, including: Amount of free and in-use physical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Blocks and Buffers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Blocks are the addressable units on block devices (like disks), usually 512 bytes in size, but system software may use larger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Pages, Slabs, and Caches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kernel manages memory using pages, which are tracked in the struct_page table. Caches consist of slabs, and slabs are made of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Sending Signals to Processes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Signals are typically learned through a list with explanations and are associated with commands like kill and killall. If you're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Killing Processes by PID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kill and killall commands send signals to processes to stop them; they don't remove processes from memory. The default signal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2.3 | PROCESS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Process control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Introducing lsof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lsof command lists open files and provides detailed information about them. On Linux, open files come in various types: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Using lsof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You can use the lsof command to list open files on a system, including those on the root directory, as demonstrated in Example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What’s Different About systemd?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systemd replaced SysVinit and became the default initialization method for most Linux distributions. Major features of systemd: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Units in systemd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systemd, "init scripts" are replaced by systemd units, which represent the configuration of system services. Units are defined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Unit File Directory Locations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systemd units are typically found in three directories, with the following precedence: /usr/lib/systemd/system/: Units installed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systemd Environment Variables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systemd environment variables are set using the EnvironmentFile= directive in the [Service] section of a service file (e.g.,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10 | OBJECTIVE 2.3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10 — Processes, Jobs &amp;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Inspect processes, manipulate shell jobs, adjust priorities, send signals, and schedule tasks with at, cron, and anacron.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Examine processes via ps/proc/strace, control background jobs, renice, signal, and schedule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ps auxf / pstree / pidstat / mpstat, /proc/&lt;PID&gt; and lsof -p, process states (R,S,D,Z,T) &amp; strace, jobs: &amp;, Ctrl+Z, bg,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labs/lab-10-*/README.md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10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Inspect running processes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ps auxf | head -20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Explore /proc and lsof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sleep 600 &amp;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Process states and strace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ps -o pid,stat,cmd -p $SPID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Background, foreground, jobs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sleep 300 &amp;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10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Priority with nice and renice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nice -n 10 sleep 200 &amp;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Signals: kill, pkill, killall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sleep 1000 &amp;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Scheduling with at and cron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service atd start 2&gt;/dev/null || systemctl start atd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atq lists the queued at job and crontab -l shows the recurring entry, confirming both schedulers accepted the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02 | OBJECTIVE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2.4 — Software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Install, update, or remove packages and repositories.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configure and manage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Managing Local Debian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Used for manipulating packages on a system, particularly .deb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--info option: Allows you to see the contents and details of a .deb package.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Displays detailed metadata from inside a .deb package.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conffiles: Lists configuration files not removed after package removal.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control: Contains metadata like package dependencies.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md5sums: Provides checksums to verify file integrity.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531175"/>
            <a:ext cx="5257800" cy="474662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Installing Packages with dpkg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most common way to install packages is by using commands from the command line in the current directory.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install dependencies for a package, either install them first or specify all required packages in the same command.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57451"/>
            <a:ext cx="5257800" cy="89407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Removing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-r or --remove: Removes the package’s files but keeps the configuration files on the disk.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-P or --purge: Removes all of the package’s files, including configuration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conffiles file lists configuration files associated with an installed package.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file helps identify which files will be removed during a package removal.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also indicates which configuration files should be purged during a package purge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remove a package entirely, you can use apt-get with two options: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39293"/>
            <a:ext cx="5257800" cy="213038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Dependency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Package installations can conflict with existing entries in the package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During removal, a package may try to remove files that other packages depend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--force option in package tools should be used with caution, as it can cause serious issues.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For the Linux+ exam, you should know how to force an action, but you don't need to memorize all the --force options.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force the removal of a broken package marked for reinstallation, a specific command can be 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--force-reinstreq to remove packages marked for reinstallation.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79612"/>
            <a:ext cx="5257800" cy="44975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Querying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When querying packages without referencing a local .deb file, you're querying the package database, which lists all installed packages and their file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You can use the -l or --list option to get information about installed packages, such as their existence, version, name, and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You can query a package using its singular name (e.g., krb5-user for a Kerberos-related package) or the previous filename to see the package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output shows that there are three packages starting with "krb5." Two are uninstalled (indicated by "un"), while krb5-locales is installed with version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Debian package system displays packages previously installed on the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You can check the status of a particular package using the -s or --status option.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10385"/>
            <a:ext cx="5257800" cy="258820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Reconfiguring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Some packages include a configuration tool that runs during installation to help with initial setup.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If the tool is included, you can rerun it using the dpkg-reconfigure command followed by the package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example shows running dpkg-reconfigure for the Postfix mail server.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01303"/>
            <a:ext cx="5257800" cy="440637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Repositories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CD/DVDs or ISO images may have limited software, but much more is available online through repositories.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Repositories in Debian/Ubuntu can be confusing due to the relationship with Ubuntu and Canonical, so repositories are often discussed from the Ubuntu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APT tools maintain a local cache of available packages and their dependencies for faster searching.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list of remote package repositories is stored in /etc/apt/sources.list and individual files under /etc/apt/sources.list.d, with each line representing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17226"/>
            <a:ext cx="5257800" cy="217452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What Is a Repository?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repository is a collection or archive of software that can be accessed by the system, stored locally, on attached disks, or across a network via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Ubuntu repositories include: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Main: Canonical-supported free and open-source packages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Universe: Community-maintained free and open-source packages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Restricted: Proprietary driver packages for devices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Multiverse: Software with copyright or legal issues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39" y="1481328"/>
            <a:ext cx="3897601" cy="48463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Installing Remote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Once you understand repositories and how to add them, you can use the apt-get utility for most remote software installations.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the install command with apt-get to install a package (as shown in Example 6-5).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Example 6-5 shows installing the nginx-light package using apt-get install nginx-light.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nginx-common package is also required, so both packages are downloaded and installed.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Setup scripts, including dpkg-reconfigure, are run during the installation.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Be aware of the differences between apt-get and dpkg commands, especially regarding options.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276" y="1481328"/>
            <a:ext cx="4046927" cy="484632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Upgrading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APT tools maintain a local cache of available packages and their dependencies for faster searching.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You need to run apt-get update to update the cache after modifying sources.list or to fetch upstream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apt-cache command allows you to: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search term: Search for packages matching a specific term.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show package_name: Display information about a package, including description and dependencies.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showpkg package_name: Show technical details about a package, such as its dependencies and services.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29320"/>
            <a:ext cx="5257800" cy="255033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Graphical Managers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Debian offers two graphical package managers: aptitude and synaptic.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Aptitude has a text-based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Synaptic provides a fully graphical interface.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Both are front ends to the APT tools.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61637"/>
            <a:ext cx="5257800" cy="368570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RPM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RPM database is a collection of Oracle Berkeley DB files that track installed packages and their files on a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It is located in the /var/lib/rpm directory and contains binary files used by the rpm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Only the root user can modify the RPM database, but unprivileged users can query and verify installed packages.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RPM database can become outdated or corrupted, requiring a rebuild, which can be done using a specific command as the root user.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command to rebuild the RPM database produces no output unless errors are found, and the errors are typically informational.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Only one user can access the RPM database at a time to prevent data corruption and simultaneous software installations.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85737"/>
            <a:ext cx="5257799" cy="23750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Package Name Conventions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Installed packages are usually identified by a short name, though some operations require the use of long package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Long package names are typically needed for deletion when multiple packages have matching short names.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find two packages installed with different versions of the same software, use the appropriate command (though the specific command wasn't provided).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Viewing a specific package’s information can be tricky when using options like -l and -i for listings and info pages.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see details for just one package, use its long name (e.g., 5.19.0-39-generic.fcXX) in the query to isolate that package.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80398"/>
            <a:ext cx="5257800" cy="144817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Validation of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For security, validate the signatures of packages from non-vendor sources to avoid malware.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RPM checks package integrity using MD5 (checksum) and PGP/GPG (signature tied to a person/organization).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MD5 ensures the package contents are unchanged, while PGP/GPG confirms the package's origin.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Package validation happens during installation or can be triggered explicitly.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"NOT OK" indicates the signatures couldn't be verified.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issue can be fixed by importing the key from the distribution site.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80257"/>
            <a:ext cx="5257800" cy="64846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Installation of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Installing software via packages requires root access, the rpm command, and a package.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Before installation, rpm checks: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Enough free disk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Existing files won't be overwritten.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All package dependencies are met.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install a package, use the -i (or --install) option.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58626"/>
            <a:ext cx="5257800" cy="89172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Additional Installation Options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RPM installations may fail if files exist on the system that the package will overwrite, such as from manual installations or failed package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--replacefiles or --force options can handle these situations.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--force option overrides safeguards, including the replacefiles safeguard, allowing the installation to proceed despite conflicts.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a file conflict occurs during RPM installation, check the conflicting 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the file is unnecessary, remove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Alternatively, use the --force option to bypass the conflict and proceed with installation.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90907"/>
            <a:ext cx="5257799" cy="82716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Verifying a Package’s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Verifying a package may be necessary if users report issues with the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can also be used to check for tampering or potential system integrity problems.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the rpm -V or rpm --verify command to verify an installed RPM package.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checks if any files installed by the package have been altered or corrupted.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RPM verification returns a series of nine characters indicating different tests: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S: File size differs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72762"/>
            <a:ext cx="5257800" cy="86345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Installing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Install Package with YUM: Use the yum install command to install a package, like the R statistical language, from a remote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YUM Output: YUM calculates dependencies, downloads required packages, and installs them. Log files can become large, as shown in the example where the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YUM Commands: Unlike RPM commands, YUM commands typically don’t use dashes or double dashes.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Automation with YUM: Use the -y option to automatically confirm installation, skipping the confirmation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Downloading Packages: Instead of installing, you can download packages using: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Answering d at the prompt (instead of y).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283" y="1481328"/>
            <a:ext cx="3498912" cy="48463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Finding Packages to Install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Use yum list to search for packages in remote repositories if you know the package name.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Using Wildcards with YUM: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packages are split into components, they share a common prefix.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the wildcard operator with yum list to see related packages (e.g., for Tomcat).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53838"/>
            <a:ext cx="5257800" cy="410129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Configuring YUM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main configuration file for YUM is /etc/yum.conf.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file contains global options for YUM and defaults for all repositories.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Editing this file is rare but useful for understanding where files are stored.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 configurations can include default settings for systems like Fedora.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YUM Configuration Directories and Files: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Cached files are stored in /var/cache/yum.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6314"/>
            <a:ext cx="5257800" cy="423634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Installing Software Packages with zypper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To list available software sources, use the zypper list repositories (zypper lr) command.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command shows the configured repositories from which software can be installed.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refresh metadata from configured repositories, use the zypper ref command.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command updates the repository information on your system, enabling smoother interactions and installations or updates.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To search for a specific package in your repositories, use the zypper se command (e.g., zypper se vim).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output will display all packages matching the search term, such as gvim when searching for "vim."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11151"/>
            <a:ext cx="5257800" cy="138667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Adding a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add a repository, first list the existing repositories and identify the one you want to add.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 a web search or another method to find the repository.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example, adding a non-oss repository (which contains non-open-source software like Opera) follows a specific command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zypper command uses the ar directive to add a repository.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&lt;uri&gt; is the network URL for querying and downloading packages.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The &lt;alias&gt; is a friendly name for the repository.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48524"/>
            <a:ext cx="5257800" cy="191192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Refreshing the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To get the latest information about a repository, use the zypper ref command before querying or installing from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New repositories must be accepted, and the package-signing key stored locally.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zypper handles this when you choose "y" for "yes this once" or "a" for "always trust this repository."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It's recommended to choose "a" for convenience, as shown in Figure 6-10.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repository is queried, its information is downloaded, and it's ready for use as an installation and update source.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package-signing key is stored locally after accepting the repository.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90724"/>
            <a:ext cx="5257800" cy="282752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Update with Package 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Recommended method: Use the package manager to update the kernel.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Follows the distribution's recommended update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Ensures compatibility with the rest of the distribution, as the kernel is packaged with customizations.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Common mistake: Users often accidentally update the entire distribution using too broad a command.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get the latest package information (example for Ubuntu): Use the appropriate package manager 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Refresh repositories: Use a command to get the latest repository information.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95722"/>
            <a:ext cx="5257800" cy="41753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Linux Kernel Utilities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Linux Kernel Utilities: A set of three scripts to update, compile, and remove old kernels on Ubuntu.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Scripts: compile_linux_kernel.sh, update_ubuntu_kernel.sh, remove_old_kernels.sh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These scripts help automate the kernel management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Step to Retrieve Utilities: Download the utilities from Mark Tompkins' GitHub page and store them in a test directory.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Kernel Update Methods: There are several ways to update the kernel, but the focus is on those requiring a reboot.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Recommended Approach: Stick with methods recommended by your distribution vendor.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856" y="1481328"/>
            <a:ext cx="3647767" cy="48463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Handling .rpmsave and .rpmnew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Monitor upgrades for .rpmnew or .rpmsave files: Check log files to confirm the creation of these files during an upgrade.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 service upgrade: If the upgrade doesn’t involve a service, there’s likely no .rpmnew or .rpmsave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Service upgrade: Inspect the service carefully if upgraded and check for .rpmnew or .rpmsave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Search for files: Use the find command to locate any .rpmnew or .rpmsave files after an upgrade.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Example 7-1 output: Shows two .rpmsave files and three .rpmnew files, with the most important being the .rpmnew files created due to the noreplace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diff command: After finding .rpmsave or .rpmnew files, use the diff command to compare the old and new configuration files.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41831"/>
            <a:ext cx="5257800" cy="132531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Viewing Kernel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Using sysctl: You can easily view kernel parameters in the running kernel by running a query in the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An example command for viewing kernel parameters is provided in Example 7-2.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Viewing a Specific Parameter: You can use sysctl followed by the parameter name to view a particular kernel parameter value, like sysctl kernel.osrelease.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Alternative Method: You can also view a parameter's value by directly accessing the corresponding file in /proc/sys/ by replacing dots with slashes in the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63562"/>
            <a:ext cx="5257800" cy="108185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Software management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Package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Package Definition: A package is a compressed archive containing all necessary files for a command, application, or set of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Most Common Package Types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Common Package Types: .rpm (Red Hat Package Manager)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Package Managers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Purpose of Package Managers: Solve issues related to software version proliferation and leftover files from upgrades or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Debian Package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Debian and Debian-derived systems: Use a powerful package management system for finding, installing, querying, and removing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Adding Repositories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manually add a repository, you can: Edit the /etc/apt/sources.list 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Working with the Cache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APT tools maintain a local cache of available packages and their dependencies for faster searching. You need to run apt-get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2.4 | SOFTWARE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Software management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RPM and YUM Package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RPM refers to the package format, the rpm command, and the RPM database. The components of RPM package management include: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RPM Package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RPM packages come in two types: Binary RPM: Contains compiled binary files, documentation, configuration, and other necessary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rpm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rpm command is used for managing packages on the system, both installed in the RPM database and uninstalled on disk. Common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Freshening vs. Upgrading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Daily maintenance of a system involves applying updates and fixes via package updates. The -U and --upgrade options install or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Other Removal Options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You might need to force the removal of a package to fix broken dependencies. This should be done under the guidance of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Package Management with YUM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YUM Overview: YUM is a front-end to RPM, designed to simplify working with RPM and remote repositories. Ease of Use: Like apt-*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11 | OBJECTIVE 2.4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11 — Software &amp; Package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Manage Debian packages with apt/dpkg, add a signed third-party repo, run dnf/rpm in a container, and use language and sandboxed package managers.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Install/remove apt packages, add a GPG-signed repo, demo dnf/rpm, then pip/npm/cargo and snap/flatpak.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apt update/install/remove/purge/autoremove, apt-cache policy, dpkg -l / -L, signed-by GPG keyrings, dnf / rpm -q / rpm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labs/lab-11-*/README.md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11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apt basics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Add a third-party repo with GPG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curl gnupg lsb-release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Remove packages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remove -y 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RPM world inside a container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docker.io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11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Language-specific package managers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python3-pip nodejs npm cargo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update-alternatives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update-alternatives --display editor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Sandboxed package formats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which snap &amp;&amp; snap list 2&gt;/dev/null || echo "snap not preinstalled on this 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apt-cache policy terraform shows a candidate from the signed HashiCorp repo, confirming the GPG-verified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02 | OBJECTIVE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2.5 — Systems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Start, stop, and review services, logs, and timers.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manage Linux using systemd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12 | OBJECTIVE 2.5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12 — Service Management with systemd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Inspect and control systemd units, author custom service/timer/mount units, analyze boot performance, and configure host/time/DNS via systemd helpers.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Manage nginx, write a service + timer + mount unit, analyze boot time, and set hostname/timezone/DNS.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systemctl list-units / list-unit-files / --failed, start/stop/restart/reload, enable/disable, mask/unmask, custom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labs/lab-12-*/README.md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12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List and inspect units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systemctl list-units --type=service | head -20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Control nginx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-y &amp;&amp; apt install -y nginx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Author a custom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"lab-hello fired at $(date)" &gt;&gt; /var/log/lab-hello.log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Add a timer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[Unit]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12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Mount unit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/mnt/labdata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Boot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systemd-analyze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Host, time, and DNS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hostnamectl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systemctl list-timers shows lab-hello.timer scheduled and journalctl -u lab-hello records each firing,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02 | OBJECTIVE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2.6 —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Operate container runtimes, manage images, and create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manage applications in a container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Installing the Container-Tools Package and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# sudo yum module install container-tools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 enter y to answer yes and allow the install to finish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27331"/>
            <a:ext cx="5257800" cy="115431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Finding Suitable Images: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Container images serve different purposes, such as hosting a database or running a web server. To find the right image, you can search repositories for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Searching for UBI (Universal Base Images) in RHEL 8: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search for UBI images for RHEL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Finding and Pulling a Container Image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800544"/>
            <a:ext cx="5257800" cy="20788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This displays the listing of available “latest release” images, which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Finding and Pulling a Container Image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09263"/>
            <a:ext cx="5257800" cy="59044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skopeo to View Container Image Information: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The skopeo tool allows you to inspect container images and their metadata without pulling them. This is useful for getting detailed information about an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Finding and Pulling a Container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Pulling an Image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11092"/>
            <a:ext cx="5257800" cy="38679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Pull the image from the repository by using the podman pull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Pulling an Image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58074"/>
            <a:ext cx="5257800" cy="209282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Inspecting a Pulled Container Image with podman images: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Once you have pulled a container image, you can inspect it by listing all the images available on your host system. This can be done using the following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Viewing Local Images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9570"/>
            <a:ext cx="5257800" cy="54983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Running a Container with podman run: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run a container and interact with its command line, use the podman run command with the following parameters: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-i: Runs the container in interactive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-t: Attaches a pseudo-terminal (pty), enabling terminal interaction.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podman run -i -t 2fd9e1478809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Running an Image as a 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Verifying the Container is Still Running: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check if the container is still running, use the podman ps command (instead of podman images): podman 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Detaching from and Attaching to Containers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50511"/>
            <a:ext cx="5257800" cy="130795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 Output: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output will show the status of all containers, whether running or exited: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Exiting and Ending Execution of a 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CONTAINER ID IMAGE COMMAND CREATED STATUS PORTS NAMES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ae054514e8f6 registry.access.redhat.com/rhscl/nginx-16-rhel7 nginx -g daemon o... 32 seconds ago Up 31 seconds ago 0.0.0.0:36319-&gt;80/tcp,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52ee615ae4b7 registry.access.redhat.com/rhscl/n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Exposing and Mapping Ports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49898"/>
            <a:ext cx="5257800" cy="90917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Exposing and Publishing Ports: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expose a specific port (e.g., port 80) on a container and publish all exposed ports to the host, you can 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--expose=80: Exposes port 80 inside the 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--publish-all: Publishes all exposed ports to the host.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&amp;: Runs the container in the background.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Exposing and Mapping Ports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4185"/>
            <a:ext cx="5257800" cy="56060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build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Create a Containerfile.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Create a script to run as a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Set the permissions of the script.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Build the image with the buildah command.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Verify the image with the buildah images 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Run the image with the podman run command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Containers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What is a Container?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 lightweight, standalone, executable package of software. Includes everything needed to run an application: code, runtime,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Verifying Podman and Skopeo Installation: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 simpler way to verify that Podman and Skopeo are installed and available in your system's PATH is to use the which command: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Expected Output: /usr/bin/podman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/usr/bin/skopeo This output shows the location of the executable files for Podman and Skopeo in the system's PATH, confirming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Inspecting an Image with podman inspect: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get detailed information about a container image, you can use the podman inspect command with the shortened Image ID (the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Visual Indication: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After running the container, your prompt will change to reflect that you're inside the container. It will show the container's ID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Verifying You Are in the Container: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confirm you're inside the container, you can check the contents of the home directory or check the host release information.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2.6 |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Containers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Assigning a Friendly Name to a Container: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You can assign a friendly name to a container when creating it by using the --name option. This makes it easier to reference the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After running this command, you will be inside the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[root@35c54f588bbc /]# Assigning a Container-Friendly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Renaming a Container: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If you want to rename a container after it’s been created, use the podman rename command: podman rename OpenContainer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Detaching from a Running Container: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When you run a container with the -it option, typing exit will terminate the container. To detach from the container without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Exiting an Interactive Container Session: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exit from an interactive container session and terminate the container, simply type: exit This will stop the container and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Verifying Container Status: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check the status of all containers, including those that have stopped, use the podman ps -a command: podman ps -a Exiting and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13 | OBJECTIVE 2.6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13 — Containers with Docker &amp; Podman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Install Docker and Podman, pull/run images, manage volumes and networks, build an image from a Dockerfile, and contrast rootful vs rootless engines.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Run and inspect nginx containers, bind-mount volumes, build an image, wire a user-defined network, and try rootless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docker.io vs podman (daemonless/rootless), docker pull/run -d -p --name, docker ps, logs / exec -it / inspect / stats,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labs/lab-13-*/README.md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13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Docker and Podman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-y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Pull and run a 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docker pull nginx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Inspect, exec, 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docker logs web | 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Volumes for persistent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13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Build a tiny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/tmp/hello &amp;&amp; cd /tmp/hello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Networks and port mapping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docker network create labnet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Rootless Podman and privileged 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podman run --rm alpine echo "hello from podman"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curl against the published ports returns 200 and the alpine container reaches http://api by name, confirming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02 |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Recap — Services and User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8 — File &amp; Directory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9 — Local Account &amp; Group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10 — Processes, Jobs &amp; Scheduling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11 — Software &amp; Package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12 — Service Management with systemd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13 — Containers with Docker &amp; Podman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240280"/>
            <a:ext cx="2313432" cy="8229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131B2A"/>
                </a:solidFill>
                <a:latin typeface="Arial"/>
              </a:rPr>
              <a:t>End of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08C95"/>
                </a:solidFill>
                <a:latin typeface="Arial"/>
              </a:rPr>
              <a:t>See you tomorrow — 9:30 AM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DAD7"/>
                </a:solidFill>
                <a:latin typeface="Arial"/>
              </a:rPr>
              <a:t>DOMAIN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5887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D7E0EA"/>
                </a:solidFill>
                <a:latin typeface="Arial"/>
              </a:rPr>
              <a:t>18% of the exam | Objectives 3.1–3.6 | Labs 14–19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75504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6DDAD7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03 | EXAM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Security —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3.1  ·  Auth &amp; accounting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Configure PAM, LDAP, Kerberos, and enable auditing.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3.2  ·  Firewalls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Set firewalls using iptables, nftables, UFW, and zone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3.3  ·  OS hardening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Apply permissions, configure sudo, and secure remote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3.4  ·  Account security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Enforce password policies, restrict shells, and enable MFA.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3.5  ·  Cryptography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Encrypt files, use hashing, and manage certificates.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3.6  ·  Compliance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Verify integrity, run scans, and maintain standards.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03 |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Key Concepts —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AAA: authenticate (PAM/SSSD), authorize (sudo, Polkit) and account (journald, auditd) for every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Firewalls filter at every layer — ufw → firewalld → nftables/iptables — with stateful inspection and NAT.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OS &amp; account hardening: permissions/ACLs, SELinux, SSH hardening, fail2ban, password policy and MFA.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Cryptography (GPG, LUKS2, OpenSSL, WireGuard) and compliance/audit (AIDE, rkhunter, OpenSCAP, CIS) protect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03 | OBJECTIVE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3.1 — Auth &amp; accounting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Configure PAM, LDAP, Kerberos, and enable 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Summarize authorization, authentication, and accounting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Permission Trio Bits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ten positions (one type bit and three trios of permission bits) that make up the permissions section of a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rest of the 10 bits is the type of the object: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.: Indicates that this is a normal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l: Indicates that this is a symlink (symbolic link), which is a file that points to another object.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b: Indicates that this is a block device 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c: Indicates that this is a character device file.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61891"/>
            <a:ext cx="5257800" cy="168519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Octal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octal notation method uses bits (4 for read, 2 for write, 1 for execute) to set permissions. For example, if the current permissions are 644 and you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chmod command works great on groups of files, too: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octal notation method also works on directories and their contents. For instance, if the user "bertrandr" wants to set all files in a directory to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chmod command with the -R option changes permissions recursively for the specified object and its contents. In this case, the user "bertrandr" wants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chmod command has several useful options: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-c: Reports only the files that were changed.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29955"/>
            <a:ext cx="5257800" cy="34906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Changing File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chown command is used to set the user owner, group owner, or both with a single command. The format for using chown 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chown command accepts both of the following formats as valid for specifying the owner and group, where the separator can be either a colon (:) or a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chown command also supports the following syntaxes: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owner: Changes only the user owner.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owner:group: Changes both the user owner and the group owner.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owner::: Changes the user owner and sets the group owner to the current user's primary group.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41681"/>
            <a:ext cx="5257800" cy="112561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Changing Group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When only the group owner needs to be changed, the simplest method is to use the chgrp command. The syntax is straightforward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Changing a large set of files to another group owner requires the use of the -R (recursive) 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chgrp command can be used to change the group owner of the /data directory and all its subdirectories to "staff," without altering the user owner. The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-c: Shows output only for changed objects.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-h: Changes symbolic links, not the original 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-R: Recursively affects the target and all its children.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2523"/>
            <a:ext cx="5257800" cy="56392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Permission Granularity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 Linux and Unix file systems, certain limitations can create challenges for administrators. For instance, without using Access Control Lists (ACLs),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access the contents of a file, a user must either be the file owner (e.g., "bob") or a member of the group that owns the file (e.g., "staff").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Managing access to files for multiple users in various groups can be challenging, especially when users belong to different primary and secondary groups.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bob user creates a file that ends up looking like the following when listed with the ls -l command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Although all users are in the same "project" group, "sue" and "steve" cannot view the file because they are not members of the "staff" group. As a result,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"bob" user can change the group ownership of the file to the "project" group, but this would require users to perform the action every time they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39108"/>
            <a:ext cx="5257800" cy="93075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Special Bit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Linux filesystem offers three special bits: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SUID (Set User ID): Allows a user to run a program as if they were the user owner, typically root. The numeric value is 4XXX, where XXX represents the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SGID (Set Group ID): When set on a directory, it gives new files the group ownership of the directory’s group owner. When set on a file, it allows the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Sticky bit: Prevents non-owners from deleting files in a shared directory. Only the file owner or directory owner can delete the file (root can delete any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Special permissions like SUID and SGID should only be used when necessary, as they can pose security risks, especially on executable files. It allows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Special permissions can be set using either the numeric or symbolic method, just like other file permissions, through the chmod command. Both methods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49014"/>
            <a:ext cx="5257800" cy="51094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Setting the SUID Bit on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command related to the SUID bit is chsh. The chsh command allows a regular user to change her login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"s" in place of the user owner's execute permission indicates that the command has the SUID (Set User ID) permission set. When executed, this command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With the SUID permission set, the chsh program can access files either as the user running the command or as the owner of the chsh program (typically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"s" in place of the group owner's execute permission indicates that the SGID (Set Group ID) permission is set. The wall command, which allows users to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Users can use the wall command because it is an SGID program. When executed, it accesses files as if the user were a member of the "tty" group, which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you are having problems with users abusing the wall command, simply take away the SGID access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1310"/>
            <a:ext cx="5257800" cy="56635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Setting the Sticky Bit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sticky bit is used mostly for ensuring that users in a shared directory can’t delete anyone else’s files. A good example of this is the /tmp directory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t in place of the others execute permission indicates that this is a sticky bit directory. The /tmp directory is a location where all users must be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the sticky bit is set on a directory, the meaning of the write permission changes. Instead of allowing any user to add or delete files in the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owner of the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owner of the directory (usually root)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root user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15248"/>
            <a:ext cx="5257800" cy="37848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Finding Files by Permission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Attackers who breach a system often try to set certain files with the SUID or SGID bits enabled. This allows their otherwise normal accounts to perform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find command has an operator that makes it easy to find vulnerable files. The -perm operator is usually followed by a three- or four-digit set of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searches for any object in the /usr/bin directory, and all subdirectories, that has the exact permissions rwxrwxrwx. This is fine, but it doesn’t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At first glance, the find command with the -perm operator might seem like it's searching for files with the SUID bit set and no additional permissions.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should install the system and then run a find command that reports any file that has an SUID bit set, like 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Redirect the output of the find command to a file and store it in a safe location, such as on a USB drive. Periodically (especially after installing new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51971"/>
            <a:ext cx="5257800" cy="30503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Setting an ACL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Using the setfacl command is fairly easy, though things can get complex if you are trying to set multiple groups to access an object with different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example sets user permissions (u) for the user snuffy and adds the permissions to read and write but not execute for this object. The -m option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By setting the ACL, the user snuffy is granted read and write (rw) access as a user owner, without affecting the original owner, ross. This change can be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the output of the getfacl command, you will see a new line detailing the permissions granted to the user snuffy, in addition to the default permissions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How to set an ACL for a group owner? You simply change the u in the command to g and replace the user snuffy with the proper group and alter the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Now retrieve the permissions again with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873" y="1481328"/>
            <a:ext cx="3517733" cy="48463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Security-Enhanced Linux (SELinux)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This section covers two commonly used context-based methods: SELinux and AppArmor.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SELinux (Security-Enhanced Linux) is a security framework integrated into the Linux kernel and distributions. It offers an added layer of access control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SELinux enforces detailed access control policies that limit actions processes and users can take. It extends traditional Linux permissions by assigning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An SELinux security policy requires processes to be part of an SELinux security context to access files and directories. While regular permissions are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key concern addressed by SELinux policies is the security risk posed by daemon (or system) processes. For example, a web server process, among other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this output, each line represents a running Apache web server process (/usr/sbin/httpd). The first part of the line shows the user who initiated the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34857"/>
            <a:ext cx="5257800" cy="53926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SELinux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Disabled: SELinux is completely inactive, and no checks are performed on file or directory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Enforcing: SELinux actively checks access and blocks unauthorized attempts to access files or directories.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Permissive: SELinux checks access but does not block any actions; it only logs potential violations, useful for troubleshooting.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 the getenforce command to determine the current SELinux mode.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result Enforcing means SELinux is installed, and the security policy is currently active.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change the SELinux mode using the setenforce command, which is helpful for testing new policies or troubleshooting SELinux-related issues.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35328"/>
            <a:ext cx="5257800" cy="23383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SELinux Booleans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While creating a policy is beyond the scope of the Linux+ exam, you can modify a policy's behavior using booleans. A boolean is a true/false value that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An SELinux policy typically has dozens of different booleans. To determine what a boolean is used for, use the semanage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the example, the xdm_sysadm_login boolean controls whether the root user can log in via the GUI using XDM (a display manager). The default and current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also use the getsebool command to display just the current value of a boolean.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a boolean is provided as an argument, the getsebool command gives only that boolean’s current value.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set an SELinux boolean as either on or off, use the setsebool command.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09533"/>
            <a:ext cx="5257800" cy="238990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SELinux Contexts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SELinux enhances file and directory security by applying SELinux contexts, which determine whether processes can access certain files. Each file has a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An SELinux label, or security context label, uniquely identifies and categorizes system resources like files, processes, and sockets. Each process runs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security context (e.g., system_u:system_r:httpd_t:s0) in SELinux is made up of various components, but the key part for understanding is httpd_t,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Files and directories also have an SELinux security context that is defined by the policy. To see a security context for a specific file, use -Z option to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SELinux context contains extensive information, so much so that file names may not fit on a single line. A process with the context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context u:object_r:httpd_sys_content_t:s0 is automatically applied to files placed in certain directories, such as /var/www/html. When a new file is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86828"/>
            <a:ext cx="5257800" cy="103532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Auth &amp; accounting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Sysadmin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As a sysadmin, controlling access to system resources is crucial. Before ACLs (Access Control Lists), Linux lacked the ability to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File Permissions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Permissions control how users access resources on a system. System security is configured using the user's UID (user ID), GIDs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Manipulating Permissions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chmod command is used to modify an object's permission bits, and only the root user or the object's owner can change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Symbolic Mode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When using the chmod command with symbolic values, you can change all permissions like in numeric mode, but it requires a longer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File and Directory Ownership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Ownership is crucial in Linux/Unix systems, as every object must have at least a user owner and a group owner (distinct from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Understanding and Using umask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umask command is used to specify default permissions for when a new file or directory is created.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3.1 | AUTH &amp;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Auth &amp; accounting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Setting the SGID Bit on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SGID permission is rarely set on les. Consider the following program with the SGID bit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Setting the SGID Bit on Directories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Consider the earlier scenario in which the bob user (primary group staff, secondary group project), the sue user (primary group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Viewing and Changing File Attributes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addition to file permissions, file attributes are "advanced settings" for files or directories on the filesystem. You can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Displaying File Attributes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primary way to view a file's attributes is by using the lsattr command. It displays a line of attribute notations, typically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Key File Attributes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There are several important file attributes that significantly affect files on a filesystem: a: The file can only be appended to,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Setting File Attributes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Setting an attribute on a file couldn’t be simpler Now if you were to display the le’s attributes again, you’d see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14 | OBJECTIVE 3.1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14 — AAA: sudo, PAM, and Polkit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Configure sudo authorization, inspect PAM authentication stacks, and enable auditd accounting to record security events. Finish with a conceptual look at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Install sudo, grant a user privileges, inspect PAM, read auth logs, and enable auditd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sudo / visudo / sudoers.d, PAM stacks (auth, account, session), auditctl / ausearch, journalctl / rsyslog / logrotate,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labs/lab-14-*/README.md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14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AAA: sudo, PAM, and Polkit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sudo and create a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&amp;&amp; apt install -y sudo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Grant sudo via group and drop-in 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usermod -aG sudo alice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Switch identity with sudo and su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su - alice -c 'sudo -n systemctl status ssh || true'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Inspect PAM stacks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ls /etc/pam.d/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14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AAA: sudo, PAM, and Polkit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Read auth logs via journald and rsyslog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rsyslog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Enable auditd and watch /etc/passwd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auditd audispd-plugins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Persistent audit rules and Polkit 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-w /etc/passwd -p wa -k passwd_changes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ausearch -k passwd_changes returns the recorded write event, confirming accounting is active.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03 | OBJECTIVE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3.2 — Firewalls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Set firewalls using iptables, nftables, UFW, and zone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configure and implement firewalls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nftables: Newer, Tighter, More Dynamic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nftables package is a newer implementation for packet classification in the kernel, designed to replace the older iptables system while still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Available since kernel version 3.13, nftables offers a new command structure, improved implementation, and fewer vulnerabilities, specifically addressing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Using nftables helps reduce code duplication and prevents issues from inconsistent ruleset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It's faster due to improved packet mapping and simplifies managing both IPv4 and IPv6 stacks. It also supports more dynamic rule updates.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One standout feature is the ability to convert iptables commands into nftables-compatible commands using the iptables-translate tool, making transitions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As you can see, the translation is done immediately and you can use that to configure your nftables ruleset.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47140"/>
            <a:ext cx="5257800" cy="91469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Firewalld: Newer, Flexible, Easier to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On most RPM- and Red Hat-based distributions, firewalld is used to configure iptables rules. In the latest release of Red Hat, however, firewalld now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example, you can use firewall-cmd --get-zones to display all available zones.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apply different rules to different zones and assign these zone rule sets to specific interfaces. For instance, if your eth0 interface connects to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76507"/>
            <a:ext cx="5257800" cy="45596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iptables to Filter Incoming Packet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common firewall task is configuring a system to allow or block incoming packets, which can apply to either a single host or an entire network if the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Modern Linux distributions often come with default firewall rules. To view the current firewall rules, you can execute the appropriate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At this stage, the specific details of the default rules are not important, as they will be explained later. To remove these rules, you can delete them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block all network packets that originate from a specific host, use the following commands: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-s option stands for “source.” This value can be either an IP address or a network: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use the -A option to add a new rule to the end of the chain. Since rules are evaluated in order, this is important to consider. If you want to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24558"/>
            <a:ext cx="5257800" cy="155985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Filtering by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It’s common to filter packets by protocol, such as ICMP, TCP, UDP, or a protocol tied to a specific port (e.g., Telnet on port 23). To block a protocol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/etc/protocols file lists protocols that can be used with the -p option. To block a specific port, use the -m option along with either --sport (source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-m option is necessary for iptables to utilize an extension module, which adds optional features to iptables. In the previous example, the TCP match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iptables -L command automatically converts port numbers into names (like 23 to Telnet) and IP addresses into hostnames if DNS lookup is possible. To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Remember that you can also look up port numbers in the /etc/services file. Recall that ports 1 through 1023 are considered privileged ports.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71879"/>
            <a:ext cx="5257800" cy="106521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Filtering Based on Destination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If you look at the output of the iptables -L INPUT command, you will see that there is a destination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you have multiple network cards or IP addresses on a single card, you may need different rules for each network interface. You can specify rules for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view network ports in the output of the iptables -L INPUT command, you need to use the -v (verbose) option, which provides more detailed information,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-v option in iptables gives more detailed information, such as the number of packets that have matched a specified rule, which is useful for testing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33685"/>
            <a:ext cx="5257800" cy="174160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Saving the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So far, all changes made to the firewall have only affected the current session. If the system were rebooted, those changes would be lost, and the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save the current firewall rules to a file using the iptables-save command. By default, the output is displayed on the screen, but you can redirect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location where firewall rules are saved and how they are automatically loaded depends on the Linux distribution. Some distributions use front-end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you are not using one of these utilities, there may be another solution enabled on your system. If not, you can just create a shell script that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81258"/>
            <a:ext cx="5257800" cy="24645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iptables to Filter Outgoing Packets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Blocking outgoing packets can be a crucial security measure in organizations to prevent users from accessing potentially harmful sites. For example, if a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DROP target silently discards packets without notifying the sender, making it appear as if the destination is unresponsive. In contrast, the REJECT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Perhaps you want to allow this access but create a log entry so you can determine what systems are attempting to access the remote system: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19071"/>
            <a:ext cx="5257800" cy="177083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Implementing NAT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There are several different forms of NAT: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DNAT (Destination NAT) rules can be used to provide access from an external network, typically applied at the PREROUTING filtering 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SNAT (Source NAT) is used when an internal network with static private IP addresses needs to access the Internet via a machine with a live IP address.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MASQUERADE is similar to SNAT but is used for internal networks with dynamically assigned private IP addresses, like those assigned via DHCP. MASQUERADE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MASQUERADE is more commonly used than SNAT, especially in networks where DHCP assigns IP addresses, as it simplifies configuration. Unlike SNAT, which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NAT alone isn't sufficient; you also need to enable IP forwarding in the kernel. This involves setting the value of certain files to 1 to allow the system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85763"/>
            <a:ext cx="5257800" cy="23744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fail2ban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fail2ban daemon monitors specific log files for IP addresses that repeatedly attempt to breach the system. It is not usually installed by default, so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After installing fail2ban, a new configuration directory is created at /etc/fail2ban. The main configuration file is /etc/fail2ban/jail.conf, but it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issue with modifying the jail.conf file directly is that updates to the fail2ban software could overwrite it. To avoid this, you can create .local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addition to the global settings, there are sections for different jails. For example, you can have a section that relates to SSH connections, like the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is a basic example, but the jail.conf file allows for many other features. For instance, you can create custom actions, such as sending an email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action setting in fail2ban defines what actions to take when a rule is triggered. These actions are typically specified in the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04666"/>
            <a:ext cx="5257800" cy="299964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Firewalls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Firewall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 firewall is a hardware or software device designed to control network traffic by allowing or blocking it. Firewalls can be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Common Firewall Technologies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firewall landscape has evolved significantly, with new options like firewalld and nftables entering the field. While iptables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iptables: Old and Reliable, but Complicated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iptables package has been a key part of Linux system security since 1998. It runs in userspace and configures IP packet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UFW: Uncomplicated Indeed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On Debian-based distributions, you can use ufw (Uncomplicated Firewall), which serves as a front-end interface to configure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Understanding iptables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create firewall rules on a system, you can use the iptables command. Block network packets (e.g., close open network ports).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Overview of Filtering Packets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Before creating rules with the iptables command, it's important to understand how the firewall service works. When a packet is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3.2 | FIREWALLS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Firewalls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Packet filtering - incoming packets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If the packet passes the PREROUTING filtering point, the kernel then determines whether the packet is meant for the local system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Packet filtering - routed packets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Implementing and Configuring Firewalls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Packet filtering - outbound packets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Packets are filtered not only when they are sent to a host but also when they are sent from the host. Rules can be applied at the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Important Terms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You learned filtering points, where rules can be applied. These rules, grouped into tables (filter, NAT, or mangle), define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Multiple Criteria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You can combine multiple criteria in a rule, and for the rule to match, all criteria must be met. For example, a rule can be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Changing the Default Policy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 common firewall setup is to allow specific packets and deny all others by default. This can be achieved by changing the default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15 | OBJECTIVE 3.2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15 — Firewalls: ufw, firewalld, iptables, nftables, ipset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Configure firewalls at every layer of the Linux netfilter stack, from the ufw wrapper down to iptables and nftables, and understand stateful inspection. Explore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Configure ufw, firewalld zones, nftables, ipset, NAT rules, and a stateful conntrack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ufw allow/deny/enable, firewalld zones and rich rules, iptables / nftables chains, ipset hash:ip, SNAT / DNAT /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labs/lab-15-*/README.md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15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and configure ufw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&amp;&amp; apt install -y ufw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Explore iptables backing ufw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iptables -L -n -v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firewalld zones and rich rules in Rocky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docker.io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nftables: table, chain, and a 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nftables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15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ipset for high-performance IP lists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ipset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SNAT vs DNAT and masquerade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sysctl -w net.ipv4.ip_forward=1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Stateful inspection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iptables -A INPUT -m conntrack --ctstate ESTABLISHED,RELATED -j ACCEPT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ufw status and nft list ruleset show the loaded rules; conntrack states drive stateful acceptance.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03 | OBJECTIVE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3.3 — OS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Apply permissions, configure sudo, and secure remote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apply OS hardening techniques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Password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By default, Linux requires a minimum password length of six characters, which is relatively weak given today's powerful computing resources. While it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PAM uses the /etc/pam.conf configuration file by default, and the configuration of services is laid out in lines or rules that follow this 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PAMs can additionally use service configuration files located in the /etc/pam.d directory, with each file being the configuration for a given service. In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73043"/>
            <a:ext cx="5257800" cy="26289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Password Length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PAM rule can govern password length, such as setting a ten-character requirement. This is done by editing the /etc/pam.d/common-password file and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 that it reads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10133"/>
            <a:ext cx="5257800" cy="38870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User Lockouts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PAM also allows configuring user or password lockout policies to prevent brute-force attacks by imposing a timeout after a certain number of failed login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policy enforces a 10-minute timeout after three failed password attempts by the same user, effectively slowing down brute-force cracking attempts.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61834"/>
            <a:ext cx="5257800" cy="28530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pam_tally2 and faillock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pam_tally2 module helps protect systems from brute-force attacks by tracking login attempts, enforcing timeouts, and resetting failed attempt counters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might query a user named snuffyg’s record of failed logging attempts with this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a user has too many failed login attempts and is in timeout, you can reset their failed attempts to zero and give them a fresh start using a specific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30644"/>
            <a:ext cx="5257800" cy="5476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System Security Services Daemon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System Security Services Daemon (SSSD) is a PAM extension that enables access to multiple authentication sources, allowing users to authenticate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Client processes like ssh and passwd send authentication requests to responders, which interact with the SSSD monitor. The monitor is configured via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16949"/>
            <a:ext cx="5257800" cy="217507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Single Sign-On (SSO)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SSO is an authentication mechanism that permits a user to sign-in or authenticate into not just a single system or service, but rather to an environment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There are multiple possible SSO providers, with more coming on the market all the time. Some of those providers 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Microsoft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OpenID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MiniOrange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nmap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nmap command is used to probe a remote system to determine which network ports are reachable from the local system. This is useful for many reasons,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Determining what services are available on the remote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Testing security features on the remote system, such as TCP wrappers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Verifying the effectiveness of the network’s firewall by executing nmap from a remote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use the nmap command, provide either the IP address or hostname of the system that you want to scan.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output from nmap shows open ports, starting with the port number and protocol (e.g., 23/tcp), followed by the corresponding service (e.g., telnet). By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8465"/>
            <a:ext cx="5257800" cy="241204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nc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nc (netcat) command is a versatile tool for working with TCP and UDP. It can open TCP connections, send UDP packets, listen on ports, perform port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nc command has many uses. For example, if you want to check if a specific port is blocked by your company's firewall before launching a service, you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After running the nc command, you should see a blank line below it. On a remote system outside your network, you can use the nc command to connect by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the connection is successfully established with nc, a blank line will appear under the command. Any text you type on this line and press Enter will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following are some useful options for nc command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-w: Used on the client side to automatically close the connection after a specified timeout (e.g., nc -w 30 server 333 will close the connection 30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92775"/>
            <a:ext cx="5257800" cy="62342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umask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On a typical Linux system, the umask value, set in either the /etc/bashrc or ~/.bashrc file, determines the default permissions for newly created files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default permissions with no umask value set 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files: rw-rw-rw- (or 666)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directories: rwxrwxrwx (or 777)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View the umask for your current shell by executing the following command: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umask value of 0022 means that write permissions for the group owner and others are masked out or not used. The special permissions (the first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15898"/>
            <a:ext cx="5257800" cy="457717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Enforcing Password Strength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Password strength is crucial for controlling access to a system. It involves complexity. We can ensure passwords are not only strong but also constantly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There are three main things to system managers to ensure their passwords are strong and solid.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Set initial password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Routinely age passwords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Never use group passwords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Setting Password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most important file for managing password strength on a Linux system is /etc/login.defs. This configuration file is part of the Shadow Suite, which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Important settings in /etc/login.defs include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ENCRYPT-METHOD: Defines the encryption algorithm for group passwords (options: DES, MD5, SHA256, SHA512). PAM handles user account passwords.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FAIL-DELAY: Specifies the wait time before another login attempt can be made after a failed password attempt.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LOG-OK-LOGINS: By default, only failed logins are logged, but this setting allows logging of both successful and failed logins.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LOGIN-RETRIES: Sets the maximum number of password retry attempts (usually three), though this is also typically managed by PAM.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Aging Your Passwords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prevent attackers from having enough time to guess passwords, users need to change them regularly. Since most users prioritize convenience over system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age passwords properly, use the chage command. The syntax for the chage command 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command acts on elds in the /etc/shadow file and has the following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-m: Sets the minimum number of days a user must wait before changing their password again after a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-M: Sets the maximum number of days a user can go before being required to change their password.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-d: Specifies the number of days since January 1, 1970, that the password was last changed. Is rarely modified directly; when a password is changed with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95693"/>
            <a:ext cx="5257800" cy="40175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Securing Service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service account is similar to a user account, but it is not intended for logging in. It is used solely for associating a service with an account owner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lastlog command shows information formatted with the following headers.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lastlog command displays an entry for every user and service account in the /etc/passwd file, most of which have never logged in as they are service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you notice that a service account, such as ntp, systemd-network, or kernoops, has logged in, it’s a red flag. Service accounts should never be used to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37619"/>
            <a:ext cx="5257800" cy="113373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OS hardening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Public Key Infrastructure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Public Key Infrastructure (PKI) is a system that includes various roles, procedures, and methods to enable secure encryption and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Purpose of Certificates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main purpose of a PKI setup is to ensure that a given certificate (used to sign and identify an entity) belongs to and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Certificate Authentication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understand PKI, consider e-commerce on the Web. When handling payments and personal data, you can either rely on marketing to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Self-Signed Certificates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Another method of using PKI is self-signing, where you build a web of trust with other self-signers to establish credibility over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Certificate Authorities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 key advantage of being verified by a central certificate authority is that it quickly establishes trust with individual users.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Private Keys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PKI, private keys are paired with public keys. While everyone can share their public key with others, the private key must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3.3 | OS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OS hardening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Public Keys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PKI, public keys are used to securely send messages. If someone wants to send a message that is verifiably from them, they use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Public Keys Example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If Rebecca wants to send an encrypted file to Robert, she uses her private key and Robert’s public key to encrypt it. Robert then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Encryption and Hashing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Encryption can involve hashing, where a unique hash sum is generated for an object. Vendors use this to verify the authenticity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Digital Signatures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PKI can also be used for digital signatures, allowing documents like contracts to be signed electronically without ever needing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Certificate Use Cases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Secure Sockets Layer (SSL) and Transport Layer Security (TLS) are technologies that power HTTPS, ensuring secure connections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Authentication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Linux has come far from the days of just using the local /etc/passwd or user database le, and a key reason for this is the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16 | OBJECTIVE 3.3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16 — OS Hardening: Permissions, SELinux, SSH, Fail2ban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Apply layered OS hardening from file permissions and immutability through SELinux labeling, then harden OpenSSH and add brute-force protection. Inventory SUID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Set special permission bits, ACLs, and immutability, demo SELinux, harden SSH, and run fail2ban.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chmod setuid/setgid/sticky bit, umask / chattr immutability, POSIX ACLs (setfacl/getfacl), SELinux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labs/lab-16-*/README.md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16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chmod, chown, special bits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useradd -m alice 2&gt;/dev/null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umask, chattr, lsattr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umask 027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POSIX ACLs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acl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SELinux demo inside Rocky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docker.io &amp;&amp; systemctl start 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16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Harden OpenSSH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openssh-server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fail2ban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fail2ban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Hunt SUID binaries and review legacy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find / -perm -4000 -type f 2&gt;/dev/null | head -n 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fail2ban-client status sshd shows the active jail and sshd -t confirms the hardened config is valid.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03 | OBJECTIVE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3.4 — Account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Enforce password policies, restrict shells, and enable MFA.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Explain account hardening techniques and best practices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17 | OBJECTIVE 3.4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17 — Account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Harden user accounts through password quality and aging policies, brute-force lockouts, and restricted or non-interactive shells. Explore TOTP MFA and Have I Been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Tune login.defs, enforce pwquality, set aging with chage, add pam_faillock, and lock down shells.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/etc/login.defs (PASS_MAX_DAYS), pam_pwquality / pwscore, chage aging, passwd -l/-u, pam_faillock lockout, nologin /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labs/lab-17-*/README.md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17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Account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login.defs and a test user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&amp;&amp; apt install -y libpam-pwquality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Password quality with pwquality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minlen = 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Password aging and lock/unlock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chage -M 90 -m 1 -W 7 alice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pam_faillock lockout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deny =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17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Account Hardening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Service accounts with nologin and rbash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useradd -r -s /usr/sbin/nologin svcacct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MFA with Google Authenticator (walkthrough)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libpam-google-authenticator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Pwned Passwords k-anonymity lookup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curl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chage -l alice and passwd -S alice confirm aging and lock state; the HIBP query flags breached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03 | OBJECTIVE 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3.5 — Cryptography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Encrypt files, use hashing, and manage certificates.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Explain cryptographic concepts and technologies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18 | OBJECTIVE 3.5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18 — Cryptography: GPG, LUKS, OpenSSL, WireGuard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Practice core Linux cryptography: GPG key generation and signing, LUKS2 disk encryption, OpenSSL certificates, hashing and HMAC, and WireGuard keys. Learn to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Generate GPG keys, encrypt/sign, build a LUKS2 volume, create an OpenSSL cert, and make WireGuard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GPG batch key generation, encrypt/sign, LUKS2 (cryptsetup, loopback), OpenSSL genrsa / req -x509, hashing vs HMAC,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labs/lab-18-*/README.md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18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GPG key generation in batch 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&amp;&amp; apt install -y gnupg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Encrypt, decrypt, and detached-sign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"top secret payload" &gt; /tmp/msg.txt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LUKS2 on a loopback device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cryptsetup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OpenSSL keys and self-signed certificate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openssl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18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Hashing and HMAC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sha256sum /tmp/msg.txt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WireGuard key pair and sample config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wireguard-tools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TLS version and cipher inspection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| openssl s_client -connect example.com:443 -tls1_2 2&gt;/dev/null \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gpg --verify confirms the signature and gpg -d recovers plaintext; the LUKS volume mounts only with the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03 | OBJECTIVE 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3.6 —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Verify integrity, run scans, and maintain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Explain the importance of compliance and audit procedures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19 | OBJECTIVE 3.6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19 — Compliance, Auditing, and File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Establish file-integrity monitoring and run compliance and audit tooling to detect tampering, rootkits, and misconfigurations. Cover secure deletion, login banners,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Baseline files with AIDE, scan with rkhunter/lynis/nmap, verify packages, and set banners.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AIDE file-integrity baseline, rkhunter rootkit scan, debsums / rpm -V package verification, lynis system audit, nmap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labs/lab-19-*/README.md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19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AIDE baseline and tamper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&amp;&amp; apt install -y aide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Rootkit hunting with rkhunter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rkhunter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Package verification: debsums and rpm -V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debsums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System audit with lynis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lynis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19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nmap service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nmap openssh-server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Secure deletion and wipe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"very sensitive" &gt; /tmp/secret.txt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Banners and OpenSCAP / CIS pointers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"Authorized use only. Activity is monitored." &gt; /etc/issue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aide --check flags the tampered /etc/hostname, proving the integrity baseline detects unauthorized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03 |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Recap —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14 — AAA: sudo, PAM, and Polkit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15 — Firewalls: ufw, firewalld, iptables, nftables, ipset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16 — OS Hardening: Permissions, SELinux, SSH, Fail2ban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17 — Account Hardening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18 — Cryptography: GPG, LUKS, OpenSSL, WireGuard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19 — Compliance, Auditing, and File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240280"/>
            <a:ext cx="2313432" cy="8229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131B2A"/>
                </a:solidFill>
                <a:latin typeface="Arial"/>
              </a:rPr>
              <a:t>End of 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08C95"/>
                </a:solidFill>
                <a:latin typeface="Arial"/>
              </a:rPr>
              <a:t>See you tomorrow — 9:30 AM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DAD7"/>
                </a:solidFill>
                <a:latin typeface="Arial"/>
              </a:rPr>
              <a:t>DOMAIN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Automation, Orchestration, and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5887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D7E0EA"/>
                </a:solidFill>
                <a:latin typeface="Arial"/>
              </a:rPr>
              <a:t>17% of the exam | Objectives 4.1–4.5 | Labs 20–24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75504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6DDAD7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04 | EXAM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Automation, Orchestration, and Scripting —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4.1  ·  Automation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Automate tasks with Ansible, Puppet, and CI/CD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4.2  ·  Shell scripting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Write and troubleshoot variables, functions, and logic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4.3  ·  Python basics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Develop scripts using environments, packages, and data 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4.4  ·  Version control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Manage code with Git workflows and tagging.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4.5  ·  AI best practices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Apply code generation and prompt engineering responsibly.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04 |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Key Concepts — Automation, Orchestration, and Scripting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Infrastructure as Code (Ansible, Puppet, OpenTofu) makes configuration repeatable and idempotent.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Bash scripting automates tasks with variables, conditionals, loops, functions and shellcheck-clean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Python (venv, modules, PEP 8) extends automation beyond the shell; Git version-controls all of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AI assistants are used responsibly: verify-before-paste, redact secrets, and follow a corporate AI policy.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04 | OBJECTIVE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4.1 —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Automate tasks with Ansible, Puppet, and CI/CD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Summarize automation and orchestration use cases and techniques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Key Characteristics of YAML: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Begins with three hyphens (---).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Ends with three periods (...) to indicate the end of the stream.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Uses spaces for indentation (no tabs).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Comments start with a # and continue until the end of the line, except inside strings.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Lists are represented by a hyphen (-) before each item, and each item is on a separate line. Lists can also be shown inline like [item1, item2, item3].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 Formats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YAML Stream Examples: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Vertical List (more space-consuming): --- # Favorite Bands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 The Psychedelic Furs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 Accept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 Dokken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 Marty Friedman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 Motorhead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Key Characteristics of JSON: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Uses {} for objects and [] for lists.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Allows spaces, tabs, and line breaks for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 comments are allowed.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Lists are represented within square brackets, e.g., "colors": ["red", "green", "blue"].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 Formats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JSON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File Formats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35215"/>
            <a:ext cx="5257800" cy="433854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Use version control for everything to easily fix mistakes and restart.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Automate everything possible—avoid manual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Ensure consistency in your IaC by running it multiple times for identical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Keep IaC modular to limit the impact of changes, but avoid excessive modularization.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Perform many dry runs (hundreds or thousands) to ensure automation works as expected.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Develop a quick and thorough testing method for functionality.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Getting Started with IaC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 Ansible Playbook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Understanding Infrastructure as Code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693" y="1481328"/>
            <a:ext cx="4900093" cy="484632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Salt Configuration Files: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Primary configuration files are located in /etc/salt/: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/etc/salt/master: Configuration for the Salt Master.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/etc/salt/minion: Configuration for the Salt Minions.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Additional configuration files can be placed in the .d include directory (e.g., /etc/salt/conf.d), which will be read after the main configuration is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Salt Configuration 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Remote Execution Modules: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Small programs that perform actions like: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Adding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Installing packages.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Copying files from the master to the minion.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Other system management tasks.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Salt State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 of an NGINX State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Salt State Files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88410"/>
            <a:ext cx="5257800" cy="203215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Understanding Infrastructure as Code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09305"/>
            <a:ext cx="5257800" cy="359036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CI/CD three-step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Continuous Integration/Continuous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Deployment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69035"/>
            <a:ext cx="5257800" cy="207090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general categories of CI/CD uses cases that you might encounter on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Web Applications: Automating development, testing, and deployment for web-based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Financial Services: Ensuring secure and consistent updates to financial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Shopping Sites: Streamlining updates to e-commerce platforms for improved user experience and functionality.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Gaming Applications: Facilitating rapid deployment of updates, patches, and new features in games.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Social Media Applications: Managing frequent updates to social platforms with minimal downtime.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CI/CD Use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Kubernetes Control Plane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Kubernetes control plane includes the following components: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kube-controller-manager: Manages all control loops within Kubernetes.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kube-scheduler: Assigns containers to Pods that don't yet have containers, based on the configured environment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cloud-controller-manager: Works with cloud providers' APIs to handle tasks like name resolution and resource scaling.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kube-apiserver: Handles front-end operations for the Kubernetes API.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etcd: A highly available key-value store that maintains Kubernetes' database information, logs, and ensures availability across nodes and components.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Kubernetes Node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Kubernetes nodes are systems that run applications in the Kubernetes environment. Key components of a node include: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kubelet: Ensures that the desired state of Pods is met by deploying and maintaining their health.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kube-proxy: Manages proxy tasks for UDP, TCP, and SCTP, helping to provide load-balanced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Pods: The smallest deployable unit in Kubernetes, containing one or more containers that share the same network and filesystem.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Containers: While not native to Kubernetes, it supports various container standards for running applications.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Specialized Container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 addition to regular application containers, there are two specialized container types to be aware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Sidecar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Ambassador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Sidecar: A sidecar container works alongside the main application container(s) within the same pod. It shares the same storage and network resources.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Ambassador: An ambassador container acts as an intermediary between a web server and its backend microservice. It allows for seamless redirection of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Benefits of Using Kubernetes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Kubernetes is especially popular among large organizations due to its automation benefits. Some key advantages include: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Better resource utilization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Faster software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Easier application upgrades and maintenance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Ability to containerize older, monolithic 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Reduced reliance on public cloud services and their costs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Docker Volumes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Objective 3.5 doesn't specifically mention Kubernetes for container persistent storage, so we begin with Docker volumes. You can create a volume on the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From there, you can mount the volume to a new container using the following command: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Now you can open a BASH shell in the container and see that the /mydatavol storage location is present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51957"/>
            <a:ext cx="5257800" cy="30506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 Service Mesh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Istio is a popular open-source service mesh provider that integrates into Kubernetes clusters. It uses sidecar proxies within Pods, offering advanced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Istio offers several features when deployed as a service mesh, including: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Secure service-to-service communication with TLS encryption and identity-based authentication.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Automatic load balancing for various traffic types.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Fine-grained traffic control with routing rules, retries, and fault injection.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pluggable policy layer supporting access controls, rate limits, and quotas.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What Are My Container Registry Options?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Top-rated container registries include: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Amazon ECR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Microsoft Azure Container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Docker 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GitHub Package Registry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Google Cloud Artifact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Automation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File Formats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YAML (YAML Ain’t Markup Language) is a human-readable, text-based data serialization language commonly used for configuration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YAML (YAML Ain’t Markup Language) is a human-readable,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File Formats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JSON (JavaScript Object Notation) is a lightweight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File Formats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Infrastructure as code (IaC) can be defined as the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Infrastructure as Code Concepts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Manually managing configuration changes becomes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Infrastructure as Code (IaC) automates configuration changes across systems. IaC defines infrastructure and configurations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Store configuration files in a Git repository (or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Use IaC to deploy and manage services or applications. Make changes to the IaC files and redeploy to implement updates.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4.1 |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Automation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Functional (Declarative): Focuses on what the final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Procedural (Imperative): A set of specific steps or commands to execute in order to reach the desired result. Utilities: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IaC utilities listed in objective 3.4 are all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IaC Utility Choices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Ansible: Open-source IT automation tool for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Playbooks: YAML files that describe automation tasks. Tasks: Smallest unit of automation in Ansible, which can be combined to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Puppet: A declarative tool that describes the desired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Chef: An imperative tool that specifies actions for achieving the desired state, using Ruby Domain Specific Language (DSL). Chef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SaltStack: A feature-rich, declarative IaC tool used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SaltStack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Comprised of a master and minion setup.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Salt Master: The server that controls and manages the minion systems, which are the client systems. Salt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20 | OBJECTIVE 4.1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20 — Infrastructure as Code with Ansible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Learn Infrastructure as Code using Ansible as the primary agentless configuration management tool, and recognize the wider IaC ecosystem (Puppet, OpenTofu,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Install Ansible, write an inventory, run ad-hoc commands, and author an idempotent playbook with variables, templates,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Ansible, inventory, playbook, idempotency, handlers/templates, ansible-galaxy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labs/lab-20-*/README.md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20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Ansible and prepare workspace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Create inventory pointing at localhost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[web]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Run ad-hoc commands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/root/lab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Write a playbook with variable, template, and handler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- name: Deploy a simple nginx 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20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1338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Install a Galaxy collection and peek at other IaC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258568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86000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ansible-galaxy collection install community.general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88036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880360"/>
            <a:ext cx="73152" cy="113385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5351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GitOps, cloud-init, and Kubernetes ConfigMap samples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538728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566160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package_update: 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160520"/>
            <a:ext cx="10972800" cy="113385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4160520"/>
            <a:ext cx="73152" cy="1133856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60520"/>
            <a:ext cx="1051560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Idempotent playbooks converge state without unnecessary restarts; Ansible, Puppet, OpenTofu, cloud-init, and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04 | OBJECTIVE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4.2 — Shell scripting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Write and troubleshoot variables, functions, and logic 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perform automated tasks using shell scripting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Shell Script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Purpose of Shell Scripting: Automates routine work by creating custom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Benefit: Turns multiple commands into a single command, saving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Value: Time invested in learning scripting results in significant time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Skill Requirement: No programming expertise needed; basic Linux command-line knowledge is sufficient.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Starting Point: All scripting begins with the Linux command 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shell script is just a text file that contains some commands. The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51449"/>
            <a:ext cx="5257800" cy="130607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Globbing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Definition of a Glob: A wildcard operator that matches multiple files based on a pattern.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/etc/* matches files in the /etc directory (e.g., /etc/foo and /etc/bar) but not files in subdirectories (e.g., /etc/foo/bar).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Linux Shell Behavior: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shell expands the glob to the list of matching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ls /tmp/thing* expands to ls /tmp/thing1 /tmp/thing2 if thing1 and thing2 exist.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Limitations in Renaming Files: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53144"/>
            <a:ext cx="5257800" cy="230268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Environment Variables and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Purpose of Variables: Store information for the shell or running program.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Process-Specific: Each process maintains its own set of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Types of Variables in BASH: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Available only to the current BASH shell.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Not passed to new programs or processes started from the shell.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Environment (Global) Variables: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82743"/>
            <a:ext cx="5257800" cy="144348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PATH Variable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 can always refer to an executable in your current directory with one of two methods: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Absolute pathname: /home/sarah/command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Relative pathname: ./command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Manually memorizing command locations or navigating directories is cumbersome.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PATH variable simplifies this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PATH Variable: A colon-separated list of directories used to locate commands.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31355"/>
            <a:ext cx="5257800" cy="54626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SHELL Variable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SHELL Variable: Stores the full path and filename of the user's current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Purpose: Indicates the user's default shell.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70492"/>
            <a:ext cx="5257800" cy="166799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Variable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What happens when you try to display a variable that hasn’t been set? By default, a null string (“”) value is returned: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Variable Expansion in BASH: Allows returning a default value if a variable is not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Note this command doesn’t set the variable but rather uses the provided value for this one situation. To return a value and set the variable, use the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There are other variable expansion features. For example, the following syntax returns only the first 24 characters of the variable, resulting in a more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87805"/>
            <a:ext cx="5257800" cy="63336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Running a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There are three ways to run a script. The first is the same as if it were a binary application: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Script Execution Methods: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Ensure the script has execute permissions using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Pass the script as an argument to a new shell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Sourcing: Executes the script within the current shell instead of starting a new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Sourcing Method Use Case: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57716"/>
            <a:ext cx="5257800" cy="189354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Working with Input/Output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File Descriptors in Linux: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Used to handle data streams on the shell command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Facilitate sending data to and from programs and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Handle errors efficiently.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Linux File Descriptors: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26758"/>
            <a:ext cx="5257800" cy="135545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Standard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Standard Input (stdin):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default input stream for programs.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Programs typically accept input from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Redirected file argument: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 as an argument: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11188"/>
            <a:ext cx="5257800" cy="78660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Standard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Standard Output (stdout):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default stream for displaying text or data produced by a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By default, output is sent to the screen or console.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Can be redirected to a file.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04998"/>
            <a:ext cx="5257800" cy="79897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Find Errors on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Generating Errors for Testing: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31B2A"/>
                </a:solidFill>
                <a:latin typeface="Consolas"/>
              </a:rPr>
              <a:t>Use the find command to intentionally produce permission or access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Errors (stderr) indicate restricted access to certain directories.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Useful output (stdout) is mixed with error messages (stderr).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clean up good data and get rid of bad data, you need to use redirection operators. To see this work, use the Up arrow and rerun the previous command,as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produces output similar to: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45270"/>
            <a:ext cx="5257800" cy="111843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Here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method to provide input directly to a program or script through stdin.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Useful for entering multiple lines of text without needing escaping for quotes or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String Limiter: Identifies the end of input (e.g., DONE).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shell removes instances of the string limiter from the text body.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Variables and quotes inside the heredoc body behave normally.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string limiter is only recognized when placed alone on its own line.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85014"/>
            <a:ext cx="5257800" cy="403894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Redirecting Standard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Uses &gt; to overwrite a file or &gt;&gt; to append to a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Single Redirection (&gt;):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Overwrites the contents of the target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Creates the file if it does not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Double Redirection (&gt;&gt;):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Appends the data to the end of the target file.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72965"/>
            <a:ext cx="5257800" cy="46304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Redirecting stderr: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Default Behavior: stderr is mixed with stdout but can be separated.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Redirecting Standard Error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81429"/>
            <a:ext cx="5257800" cy="44611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Understanding what happens when using stdout and stderr is to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Redirecting Standard Error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52419"/>
            <a:ext cx="5257800" cy="110413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Redirecting stdout and stderr Separately: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&gt;: Redirects stdout (good data) to the file gooddata.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2&gt;: Redirects stderr (errors) to the file baddata.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Nothing is displayed on the console.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Redirecting Standard Error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37573"/>
            <a:ext cx="5257800" cy="33382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Redirect both stdout and stderr to /dev/null to avoid output on the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&gt; /dev/null: Discards stdout.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2&gt;&amp;1: Discards stderr by redirecting it to stdout.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Redirection Redux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64908"/>
            <a:ext cx="5257800" cy="47915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Determine Current Console: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Use the tty command to identify the terminal.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Output indicates you're using a terminal in a GUI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Understanding /dev/tty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982"/>
            <a:ext cx="5257800" cy="232101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Example, in the Figure the ls command’s standard output is sent to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Pipes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15295"/>
            <a:ext cx="5257800" cy="417838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Redirection vs Pipe: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Pipe (|): Passes the output of one command to the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Redirection (&gt;): Redirects output to a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 of Incorrect Command: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cat file1 | nl &gt; 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Outcome: Creates a file named pr in the current directory, not sending output through both nl and pr.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Pipes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28159"/>
            <a:ext cx="5257800" cy="35265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following is a good example of using a pipe to produce usable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This command sorts and then numbers the file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Pipes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9826"/>
            <a:ext cx="5257800" cy="54932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Command Substitution: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Used to place the output of a command into a variable, typically for scripting purposes.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Achieved by enclosing the command in backticks (`).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export DATETIME=`date`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echo $DATETIME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output of the date command is stored in the DATETIME variable.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Command Substitution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96774"/>
            <a:ext cx="5257800" cy="81542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the Output of Another Command: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Capture the output of a command and store it in a variable for later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Shell Script Elements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41676"/>
            <a:ext cx="5257800" cy="152562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From here you can pick out just the master process by fine-tuning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your grep statement: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Shell Script Elements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96774"/>
            <a:ext cx="5257800" cy="81542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Example: Find Process ID of nginx: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find the process ID of nginx, use ps and filter with grep, avoiding the grep command itself with a regular expression: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 awk to extract the process ID (column 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Shell Script Elements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02810"/>
            <a:ext cx="5257800" cy="60335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 - Reopen Logs: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Shell Script Elements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20979"/>
            <a:ext cx="5257800" cy="56701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$? for Return Code: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$? holds the exit status (return code) of the last command executed.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0 means success (true), while any non-zero value indicates failure (false).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Conditionals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86137"/>
            <a:ext cx="5257800" cy="263670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Negating a Condition: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Use the ! (exclamation point) to negate the outcome of a statement, testing for the absence of a condition.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Conditionals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43182"/>
            <a:ext cx="5257800" cy="112261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else for Alternative Actions: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else block allows you to specify a different action when the condition is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Conditionals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43586"/>
            <a:ext cx="5257800" cy="212180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elif for Multiple Conditions: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elif (else if) allows you to test multiple conditions, executing different actions based on which condition is true.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Conditionals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83261"/>
            <a:ext cx="5257799" cy="284245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the test Command: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test command allows you to check conditions on files, strings, and numbers in a simpler 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Testing Files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67668"/>
            <a:ext cx="5257800" cy="147363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test command is used so much that BASH has the [ ] (square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Anything between the square brackets is considered a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statement.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Easier Test Syntax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44384"/>
            <a:ext cx="5257800" cy="52020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 test to see whether /usr/bin/nginx is executable could be performed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Newer versions of BASH can also use two sets of square brackets: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Easier Test Syntax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73206"/>
            <a:ext cx="5257800" cy="126256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Words, also known as strings, can be easily tested, as shown here: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Testing Strings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63648"/>
            <a:ext cx="5257800" cy="288167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Test string equality with a single equals sign: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Testing Strings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17691"/>
            <a:ext cx="5257800" cy="157359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Script for Calculating Elapsed Time: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Purpose: Check if a certain amount of time has passed since the last execution of a script and take action accordingly.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Testing Integers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90652"/>
            <a:ext cx="5257800" cy="182767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Boolean Logic with test and []: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Use -a for AND and -o for OR inside [ condition 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 with []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Boolean Logic with [[ ]]: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 &amp;&amp; for AND and || for OR inside [[ condition ]].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Combining Multiple Tests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78758"/>
            <a:ext cx="5257800" cy="25146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if/elif/else statements get bulky if you have more than three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possibilities. For such situations you can use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case Statements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65857"/>
            <a:ext cx="5257800" cy="207726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 String Matched as if It Were a File Glob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case Statements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75353"/>
            <a:ext cx="5257800" cy="225826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a Switch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switch Statements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1011"/>
            <a:ext cx="5257800" cy="324695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For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for loop’s basic syntax 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collection can be fixed: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Loops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32443"/>
            <a:ext cx="5257800" cy="214409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Sequences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Loops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248" y="1481328"/>
            <a:ext cx="3518983" cy="48463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while and until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Loops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62510"/>
            <a:ext cx="5257800" cy="268395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Ignoring Output from Commands: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When running programs like cp, awk, sed, grep, etc., you may want to suppress or ignore their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Redirect the standard output (stdout) and standard error (stderr) to /dev/null to discard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Interacting with Other Programs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57578"/>
            <a:ext cx="5257800" cy="29381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the shift Keyword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Accepting Arguments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75644"/>
            <a:ext cx="5257800" cy="28576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Reordering Fields with awk: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Use awk to transform the /etc/passwd file by reordering and formatting its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Feeling a Bit (awk)ward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66659"/>
            <a:ext cx="5257800" cy="167565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To search for the word fool in the additional documentation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Getting a grep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54982"/>
            <a:ext cx="5257800" cy="329901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Output of the grep command search for fool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Getting a grep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20495"/>
            <a:ext cx="5257800" cy="336798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 1 - Searching with OR: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Find lines in /etc/passwd that start with the letter "r" followed by either "p" or "t": egrep '^r(p|t)' /etc/passwd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command will return lines like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Getting a grep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83243"/>
            <a:ext cx="5257800" cy="4424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Shell scripting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Examples of Using Globs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Automating Tasks via Shell Scripting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Good Script Design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Characteristics of a Good Shell Script: Focus on One Task: Should do one thing and do it well.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Standard Error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Standard Error (stderr): A parallel stream to stdout specifically for error 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Redirection of Streams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Redirection Symbols: Redirects a file's contents into a command's stdin stream.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Redirecting Standard Input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Sends a file’s contents to a program’s stdin stream. Example: sort &lt; file1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Explanation: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2&gt;: Redirects stderr (file descriptor 2) to a file named errors. stdout remains on the default target (console) or can be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4.2 | SHELL SCRIPTING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Shell scripting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Outcome: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Good data is stored in gooddata. Errors are stored in baddata.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/dev/tty: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Refers to the terminal connected to the program being executed, ensuring output is directed to the controlling terminal. Redirect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Pipe (|):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Chains multiple programs, sending the output of one as input to the next, often for filtering or modifying data. Send output to a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Example Command for Formatting and Printing: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cat codesamp.c | nl | pr | lpr cat: Displays content of codesamp.c.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Executing Multiple Commands: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Use special characters to run multiple commands with one Enter press. Combine commands for simple execution or use advanced logic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Semicolon (;):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Executes commands independently, without regard to each other's exit status. Example: make modules ; echo "DO MAKE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21 | OBJECTIVE 4.2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21 — Bash Scripting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Practice core Bash scripting constructs (variables, conditionals, loops, functions, option parsing, regex, file tests) and assemble a defensive backup script, then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Write a series of Bash scripts exercising each language feature, build a real /etc backup script, and lint everything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shebang, parameter expansion, arrays, test operators [[ ]], getopts, IFS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labs/lab-21-*/README.md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21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Bash Scripting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Set up a scripts directory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/root/scripts &amp;&amp; cd /root/scripts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Variables, command substitution, parameter expansion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name="Linux+"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Conditionals, case, and test operators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num=${1:-0}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Loops, functions, and exit codes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log() { echo "[$(date +%T)] $*";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21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Bash Scripting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getopts and IFS-based CSV parsing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verbose=0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Build a real backup 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set -euo pipefail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Lint with shellcheck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shellcheck /root/scripts/*.sh || 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A robust script uses set -euo pipefail, quotes variables, and passes shellcheck cleanly.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04 | OBJECTIVE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4.3 — Python basics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Develop scripts using environments, packages, and data 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Summarize Python basics used for Linux system administration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22 | OBJECTIVE 4.3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22 — Python for System Administration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Use Python for common Linux admin tasks: create a virtual environment, exercise core data types, walk the filesystem, parse JSON, call a REST API with requests, and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Set up a venv, write scripts covering data types, os.walk, JSON parsing, and HTTP requests, then organize code into a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venv/pip, core types (bool/int/float/str/list/dict), type hints, os.walk, json module,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labs/lab-22-*/README.md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22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Check Python and create a virtual environment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python3 --version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Install dependencies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pip install requests black flake8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Exercise core data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"""Demonstrate the built-in Python data types."""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Walk /etc, count files, emit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"""Walk /etc and print a JSON summary."""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22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Parse a JSON file with the json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{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Call a public API with requests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"""Call a public test API and print selected fields."""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Use a package module and apply PEP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~/pylab/helpers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A venv isolates dependencies, requests loudly fails on bad HTTP, and black+flake8 enforce PEP 8 automatically.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04 | OBJECTIVE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4.4 — Version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Manage code with Git workflows and tagging.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implement version control using 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First Generation: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Simple version control where developers worked on the same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Used file locking: When a developer checked out a file, it was locked, preventing others from editing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Version Control Concepts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88424"/>
            <a:ext cx="5257800" cy="383212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Third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Performing Basic Version Control Using Git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31649"/>
            <a:ext cx="5257800" cy="394567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Second-generation merge and 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Performing Basic Version Control Using Git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45342"/>
            <a:ext cx="5257799" cy="391829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Git stages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Git Stages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55793"/>
            <a:ext cx="5257800" cy="26973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Configuring 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Performing Basic Version Control Using Git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05214"/>
            <a:ext cx="5257800" cy="219854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shows that the push was successful.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Configuring Git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11051"/>
            <a:ext cx="5257800" cy="218687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Changes Not Staged for Commit: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If changes are made to a file but not staged: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Getting the Status of Files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59099"/>
            <a:ext cx="5257800" cy="229077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Committed Locally but Not Pushed: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If a file is committed to the local repository but not pushed to the remote: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Getting the Status of Files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04892"/>
            <a:ext cx="5257800" cy="239919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Telling Git to Ignore a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Performing Basic Version Control Using Git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53304"/>
            <a:ext cx="5257800" cy="190236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.gitignore file itself must also be placed in the .gitignore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Telling Git to Ignore a File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63579"/>
            <a:ext cx="5257800" cy="168181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Git Status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Upon running the git status command after returning to your project, you might see the following output, indicating that a file (hidden.sh) has been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Executing Diffs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15324"/>
            <a:ext cx="5257800" cy="237832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git diff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31B2A"/>
                </a:solidFill>
                <a:latin typeface="Consolas"/>
              </a:rPr>
              <a:t>If you want to compare the current state of a file (hidden.sh) in the working directory with the version in the last commit, you can use the git diff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Executing Diffs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14238"/>
            <a:ext cx="5257800" cy="318050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 Single Difference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Performing Basic Version Control Using Git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83929"/>
            <a:ext cx="5257800" cy="284111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Staged vs. Committed Differences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Performing Basic Version Control Using Git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76390"/>
            <a:ext cx="5257800" cy="285619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Whitespace Mystery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Dealing with Whitespace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88260"/>
            <a:ext cx="5257800" cy="283245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git diff --check command checks for trailing whitespace in the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Comparing Versions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12707"/>
            <a:ext cx="5257800" cy="98356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You can use the git diff command to compare files in different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Comparing Branches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14489"/>
            <a:ext cx="5257800" cy="57999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Between Branches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Performing Basic Version Control Using Git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60437"/>
            <a:ext cx="5257800" cy="348810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Example Command: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git difftool --tool=&lt;tool&gt;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Comparing Branches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77977"/>
            <a:ext cx="5257800" cy="345302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Features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Merging Files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02416"/>
            <a:ext cx="5257800" cy="340414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To merge changes, ensure you're in the branch you want to merge into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Merging Files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06596"/>
            <a:ext cx="5257800" cy="139578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current version of showmine.sh that has been committed to the 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Merging Files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87264"/>
            <a:ext cx="5257800" cy="163444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Merged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Merging Files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21818"/>
            <a:ext cx="5257800" cy="356533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git mergetool using vimdiff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Merging Files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29970"/>
            <a:ext cx="5257800" cy="234903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Version control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Three Generations of Version Control: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Local Version Control: Stored versions locally, no collaboration. Centralized Version Control: Used a central server for multiple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Merge Process in Version Control: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Scenario: Bob and Sue check out version 5 of a file (abc.txt). Bob checks in his changes, creating version 6. Later, Sue checks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Third Generation: Distributed Version Control Systems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Developers checkout the entire project rather than individual files. Central repository server still stores all project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Key Difference Between Second and Third Generation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Second Generation (CVCS): Merge happens first, then the new version is committed to the repository.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Phases: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Phase 1: Two developers check out a file based on version 3. Phase 2: One developer checks in their changes, creating version 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Challenges: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Straight Line Development: The repository progresses linearly (ver1 → ver2 → ver3 → ver4 → ver5). Reluctance to Commit: Merging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4.4 |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Version control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Third-Generation Process: Directed Acyclic Graph (DAG):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DAG is a more complex but better technique used in third-generation version control. Unlike linear development, DAG allows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Third-Generation Commit and Merge (DAG):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Phase 1 and 2: Same as the earlier process—developers check out the file and commit their changes. Phase 3: The second check-in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Advantages of DAG Over Single Line Development: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Frequent Commits: Developers can commit regularly without immediate merging. Delegated Merging: A specific developer can handle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Installing Git: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Check if Git is installed: Run which git to see if Git is installed. If installed, it shows the path, e.g., /usr/bin/git.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For Debian-based systems: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Use dpkg -l git to check if Git is installed. To install Git, run: apt-get install git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For Red Hat-based systems: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Use rpm -q git to check if Git is installed. To install Git, run: yum install 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23 | OBJECTIVE 4.4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23 — Git Version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Work through Git end to end: init, commit, branch, merge, resolve conflicts, stash, tag, rewrite history with reset and rebase, and push/pull against a local bare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Create a working repo and a bare origin repo, then practice the full Git workflow from first commit through conflict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git init/config, branch/merge --no-ff, conflict resolution, stash/tag, reset --soft/rebase, bare remote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labs/lab-23-*/README.md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23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Git Version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Git and set identity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&amp;&amp; apt install -y 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Initialise a repo and make the first 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/root/lab &amp;&amp; cd /root/lab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Branch, modify, merge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git switch -c feature/banner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Create and resolve a conflict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git switch -c feature/edit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23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Git Version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diff, stash, 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"draft note" &gt;&gt; README.md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Rewrite history: reset and rebase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"oops" &gt; scratch.txt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Add a remote and push/pull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git init --bare /tmp/origin.git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Git tracks history through commits and branches; merge/rebase integrate work and pull --rebase keeps a linear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04 | OBJECTIVE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4.5 — AI best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Apply code generation and prompt engineering responsibly.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Summarize best practices and responsible uses of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401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24 | OBJECTIVE 4.5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24 — Responsible AI Use for Linux Administrators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Adopt a verify-before-paste workflow for AI-generated Linux commands: redact secrets before sending prompts to hosted models, lint and sandbox suggestions, weigh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Build a verification workspace, redact secrets in prompts, shellcheck and sandbox an AI-suggested command, and author a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verify-before-paste, secret redaction, local vs hosted LLMs, shellcheck, API key via env var, AI usage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labs/lab-24-*/README.md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24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Set up a verification workspace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 &amp;&amp; apt install -y shellcheck jq curl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Try a local LLM (optional)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curl -fsSL https://ollama.com/install.sh | sh || echo "Ollama install skipped"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Hosted-API placeholder workflow with redaction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export LLM_API_KEY="REDACTED-EXAMPLE"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Verify an AI-suggested command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find /var/log -type f -printf '%s %p\n' 2&gt;/dev/null 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403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24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Build a verification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- [ ] Did I read every line of the suggested command/script?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Draft a corporate AI usage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- Local models on company hardware: allowed for internal, non-secret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Compare local vs hosted at a glance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Local model (Ollama, llamafile)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Always verify before paste: redact secrets, shellcheck, sandbox, then run; choose local vs hosted models per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404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04 |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Recap — Automation, Orchestration, and Scripting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20 — Infrastructure as Code with Ansible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21 — Bash Scripting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22 — Python for System Administration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23 — Git Version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24 — Responsible AI Use for Linux Administrators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405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240280"/>
            <a:ext cx="2313432" cy="8229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131B2A"/>
                </a:solidFill>
                <a:latin typeface="Arial"/>
              </a:rPr>
              <a:t>End of 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08C95"/>
                </a:solidFill>
                <a:latin typeface="Arial"/>
              </a:rPr>
              <a:t>See you tomorrow — 9:30 AM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DAD7"/>
                </a:solidFill>
                <a:latin typeface="Arial"/>
              </a:rPr>
              <a:t>DOMAIN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5887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D7E0EA"/>
                </a:solidFill>
                <a:latin typeface="Arial"/>
              </a:rPr>
              <a:t>22% of the exam | Objectives 5.1–5.5 | Labs 25–30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75504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6DDAD7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407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05 | EXAM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—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5.1  ·  System monitoring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Monitor health, logs, and event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5.2  ·  Hardware/storage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Diagnose boot, mount, and repair issues.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5.3  ·  Networking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Resolve firewall, routing, DNS, and connectivity problems.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5.4  ·  Security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Fix SELinux, permission, and vulnerability issues.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5.5  ·  Performance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Analyze CPU, memory, I/O, and optimize response times.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408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05 |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Key Concepts —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Monitoring vocabulary (SLA/SLI/SLO) and tools (SNMP, Prometheus, node_exporter) establish a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Troubleshooting is a loop: baseline → reproduce → identify with the right counter → remediate → verify.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Storage/OS faults (ENOSPC, inode exhaustion, failed units) and network faults (DNS, routing, MTU) each have a signature.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Security faults (SELinux, ACLs, certs, lockout) and performance faults (CPU, memory, I/O) close out the domain.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409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05 | OBJECTIVE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5.1 — System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Monitor health, logs, and event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Summarize monitoring concepts and configurations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410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25 | OBJECTIVE 5.1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25 — Monitoring Concepts and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Learn the monitoring vocabulary (SLA/SLO/SLI) and stand up a working monitoring stack to produce metrics, alerts, webhooks, health checks, and aggregated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Install SNMP, node_exporter, Prometheus and Alertmanager, then write and validate alert rules, test webhooks, and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SLA vs SLO vs SLI, SNMP OID/MIB walk, Prometheus scrape config, node_exporter metrics endpoint, promtool check rules,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labs/lab-25-*/README.md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411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25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SNMP and walk the system MIB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Install and probe node_exporter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prometheus-node-exporter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Install Prometheus and scrape node_exporter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install -y prometheus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Write and validate an alert 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groups: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412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25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Simulate a webhook receiver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(nc -l -p 8000 -q 1 &gt;/tmp/webhook.log 2&gt;&amp;1 &amp;) ; sleep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Health check pattern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curl -fsS http://localhost:9100/metrics &gt;/dev/null &amp;&amp; echo "node_exporter OK"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Log aggregation via journalctl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journalctl -u prometheus -n 20 --no-pager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node_exporter, Prometheus, and its health/ready endpoints all respond, and promtool confirms the alert rule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413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05 | OBJECTIVE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5.2 — Hardware/storage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Diagnose boot, mount, and repair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troubleshoot hardware, storage, and OS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414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High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possible causes of I/O wait time include the following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Storage system bottlenecks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RAM shortage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Higher use of swap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Sustained heavy-duty read and write access to devices, particularly off-system 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RAID array (I/O) errors, regeneration processing, and low RAID system 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415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top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 the top command output, the key information for diagnosing high latency is found in the %Cpu(s) line, specifically to the right of the "wa" (wait time)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top command is easy to use—just type the command, and it will display system information. Despite its simplicity, it provides valuable insights into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21549"/>
            <a:ext cx="5257800" cy="136587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416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vmstat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vmstat command is a versatile tool for monitoring system performance, providing statistics not only for virtual memory but also for processes, memory,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 can be used for a single snapshot of system status or for continuous updates over time. Running vmstat without options gives a static output showing a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control the vmstat command by specifying options and a delay, allowing it to update its output at set intervals. This differs from the top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make vmstat display a continuous list of outputs that scrolls down the screen, use a delay value, such as 2, to refresh the information at regular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quit the continual display by pressing Ctrl+c, or if you want to display the output only a specified number of times, with a 2-second delay, you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would run the vmstat command with no options at 2-second intervals for a total of ten times and then exit.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36187"/>
            <a:ext cx="5257800" cy="113660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417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Fixing 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fix high latency, you need to identify the processes causing the issue. One effective way to do this is by using the iotop command, which works like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Running the iotop command by itself will provide basic output, but you can get more focused and helpful results by using specific subcommands. An example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One of the most useful iotop options is --only, which species that only the processes that are generating or conducting I/O be shown. You can either run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70432"/>
            <a:ext cx="5257799" cy="86811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418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Low Throughput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possible causes of low throughput for storage include the following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Failed disk, spinning or solid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Malfunctioning storage controller RAID disk failure, impending failure, or regeneration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Too many requests from clients to the system’s resources or applications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Memory issues, causing rereads and lost pages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Symptoms of low throughput might include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419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df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df (disk free) command is used to view statistics for mounted filesystems, including spinning disks, solid-state drives, and virtual filesystems like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output of the df command with the -hT options, which display disk utilization in percentage format and include the Type column (highlighted) for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df command is useful because it provides a comprehensive view of all mounted filesystems in one place. Focus on the Used and Avail columns, or simply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79848"/>
            <a:ext cx="5257800" cy="264927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420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iostat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iostat command displays input and output statistics for the system, gathering data from the /proc and /sys directories. It also helps correlate the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example, if you wanted to just see the raw iostat output for your mounted filesystems, you’d run the command by itself,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iostat command can generate a lot of data, which may be too much for a standard screen. To make the output more manageable, you can use specific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-h: Displays data in a more human-readable format (e.g., 1M for 1024 kilobytes).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-m: Forces output to be displayed in megabytes, rather than kilobytes.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-z: Suppresses output for devices with no activity during the measurement period.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24174"/>
            <a:ext cx="5257800" cy="216062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421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Capacity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possible causes of capacity issues for Linux include the following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Disk controller/RAID controller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Hard disk or SSD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RAID software failure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Disk corruption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Filesystem corruption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422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df Comma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df (disk free) command in this scenario displays disk usage statistics, including the total number of inodes, those in use, and those free. It can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df -hT command is used to diagnose capacity-related issues. The -T option adds a column for filesystem type, while the -h option displays the output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highlighted line shows the /dev/vda1 filesystem, which is of the type ext4. The important statistics here are the values in the Size, Used, Avail, and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Additionally, for the purposes of checking to see how many inodes you may be using for each of your filesystems, use the df -ih command.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the output, as highlighted in the example, the Inodes column shows the total number of inodes, the Iused column displays how many are in use, the Ifree …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67551"/>
            <a:ext cx="5257800" cy="267387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423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find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find command is used to locate and list files above a specified size, starting from a given directory. In the Figure, the find command is used to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command used is slightly longer but here’s a breakdown: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find /etc: Starts the search in the /etc directory, including all its contents.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-size +16K: Filters for files larger than 16KB.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-exec du -h {}: Executes the du -h command on each file found, displaying the human-readable size of each item.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;: Tells find to execute the -exec command multiple times for each file.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22719"/>
            <a:ext cx="5257800" cy="176353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424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Filesystem Corruption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Filesystem corruption can be caused by several factors, including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Hardware failures (or virtual hardware issues in virtual machines)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Ungraceful dismounting of a filesystem (e.g., USB drives)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Bad sectors on spinning disks or errors in flash memory on SSDs (rare)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Software issues in packages interacting with low-level disk operations (rare)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Power failures or abrupt, ungraceful shutdowns (common)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425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and Fixing Filesystem Corruption with the fsck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fsck command is a suite of tools used to diagnose and repair filesystems. You can either specify a filesystem type as a parameter to the main fsck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Regardless of the specific error, you'll eventually need to use the fsck command suite to diagnose and repair the corrupted filesystem. The focus will be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Shows the dire warning message you would receive if you were to attempt to run fsck against a write-enabled lesystem (don’t do it!).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While a filesystem is mounted as writable, you can perform a dry-run using the -N parameter with the fsck command. This simulates the actions of a real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All filesystems on a Linux device can be unmounted and checked, except for the root filesystem. While it’s technically possible to remount the root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Switching to rescue.target will minimize running processes, allowing you to safely use the fsck command on the root filesystem. Alternatively, on an …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37184"/>
            <a:ext cx="5257800" cy="73460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426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a Mismatch Issue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main utility that will show you what the problem is, is the e2fsck program, which will report back something similar to the following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main question is whether you simply resized the underlying partition or if you also created and formatted a new partition with the extra "free space."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87337"/>
            <a:ext cx="5257800" cy="183430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427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Types of I/O Schedulers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There are two types of I/O schedulers the older version, used for years, and the newer multiqueue versions, which are the default in recent Ubuntu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Older I/O schedulers include: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Deadline: Prioritizes read requests to prevent starvation, making it ideal for read-heavy tasks like informational websites.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CFQ (Completely Fair Queuing): Allocates equal time for reads and writes, which can cause idle time if one operation takes less time than allocated.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Noop: Groups requests without sorting, best suited for SSDs or devices with no seek times, as there's no need for traditional disk head movements.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Newer I/O schedulers are multiqueue-specific and include: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428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Viewing the Current I/O Scheduler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 can view the current I/O scheduler for any block device by checking files in the /sys directory, using a specific formula to query the device’s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the output, the active I/O scheduler is displayed in square brackets (e.g., [mqdeadline]), while other available schedulers are listed without brackets.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16952"/>
            <a:ext cx="5257800" cy="57507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429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Setting the Current I/O 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change an I/O scheduler, simply echo the desired scheduler string into the appropriate file in the /sys directory. For instance, to set the mq-deadline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Verify that this took effect with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As you can see, it simply made the other scheduler that’s available, none, the active one.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08018"/>
            <a:ext cx="5257800" cy="79294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430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Making the I/O Scheduler Change Persistent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make an I/O scheduler change persistent across reboots, add the configuration line to the /etc/udev/rules.d/60-schedulers.rules file. If the file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You’ll want to add a configuration line per block device that you want to make scheduler changes to, such as the /dev/vda device configuration line shown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Reboot the system, and when it comes back up, verify that the change is in place with the command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method of editing the /etc/udev/rules.d/60-schedulers.rules file is the simplest and most direct way to make a persistent I/O scheduler change, though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68233"/>
            <a:ext cx="5257800" cy="67250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431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Using the nvme Command-Line Too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nvme-cli package includes around 100 tools for managing NVMe devices, allowing you to connect to management frameworks, retrieve and set information,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get a listing of your NVMe devices, use the following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output display from these utilities requires more characters than a standard terminal window can accommodate, indicating room for improvement in how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Another command sequence you can use to get more information about the NVMe devices on your system is shown.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the Linux+ exam, the key takeaway for troubleshooting NVMe is understanding its purpose, how to use it effectively, and being aware of potential …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83246"/>
            <a:ext cx="5257800" cy="204248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432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SSD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There are several possible causes of SSD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New devices conflicting with the drive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cable being unplugged (if applicable; many SSDs are soldered into the motherboard)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Application or software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Module or driver issues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Bad blocks or sectors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433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RAID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There are a number of possible causes of RAID failures, including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RAID controller suffers from a power surge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Rebuild operations fail, causing catastrophic data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Striping operations fail, causing data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Multiple disk failures cause complete data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Software RAID errors occur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434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Checking Device Health with smartctl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smartctl command can report on most devices, but it often cannot retrieve much information for virtual machines or software-based drives. For example, 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74882"/>
            <a:ext cx="5257800" cy="225921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435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Monitoring RAID Array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There are several ways to get information about your RAID array. We’ll start with the simplest and go up from there.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quickly monitor your RAID array, you can use the cat command to view the contents of the /proc/mdstat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additionally use a graphical tool like GParted, which when you click to get information on the array will display output like the example shown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16378"/>
            <a:ext cx="5257800" cy="11762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436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Monitoring RAID Array Health with mdadm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RAID arrays managed with mdadm refer to software-based arrays, as hardware-based RAID typically uses its own set of utilities. mdadm can notify you of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mdadm command will notify you if any of the following events occur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FailSpare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DegradedArray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TestMessage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52902"/>
            <a:ext cx="5257800" cy="70317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437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LVM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numerous possible causes of LVM issues include the following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Disk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LVM software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Power failure for external LVM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Symptoms of LVM issues might include any of the following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Filesystem errors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438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LVM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get more detailed information when using LVM commands, you can add the -v option, up to -vvvv, to commands like lvs, pvs, vgs, etc., to increase the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One useful diagnostic command is lvmcong, which shows the configuration information for your LVM setup. Running lvmcong on an LVM volume will display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lvmdump command is another useful diagnostic tool that collects a large amount of data and packages it into a tar.gz or .tgz archive. This archive can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more advanced data collection with lvmdump, use the -a option to gather additional information. To focus solely on the LVM setup metadata, use the -m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73335"/>
            <a:ext cx="5257800" cy="186230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439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Mount Options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Possible causes of mount option issues include: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Incorrect setup in the /etc/fstab file preventing proper mounting.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Filesystem set up to be mounted only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Filesystem errors preventing mounting.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Incorrect or undetectable filesystem type.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Symptoms of mount issues may include: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440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Understanding Mount Option Gotchas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common mistake is failing to specify the correct mount command options. At a minimum, the mount command requires the source device and the target mount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the filesystem is set up in the /etc/fstab le, then this will work easily, give you no feedback, and enable you to then use the filesystem as you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67449"/>
            <a:ext cx="5257800" cy="67407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441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What Are All These UUIDs in My fstab?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common issue arises when people don’t understand using UUIDs for mounting a filesystem, as they are used to partition paths like /dev/sda5. The problem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fix the issue of changing device names, the concept of UUIDs (Unique Identifiers) was introduced. UUIDs remain consistent and won't change like device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UUID is a unique identifier assigned to a filesystem during its creation, ensuring uniqueness across machines. A TYPE refers to the filesystem type,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90507"/>
            <a:ext cx="5257799" cy="42796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442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What Is This errors= Option?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Filesystems are typically mounted as either read-only or read-write. For example, CD-ROMs or DVDs are usually read-only, while common filesystems like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a filesystem error is detected before or during mounting, the options are: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Ignore the error (risky)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Mark the filesystem as having an error (still risky)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Panic and halt the system (not always needed)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(Re)mount the filesystem as read-only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18594"/>
            <a:ext cx="5257800" cy="77178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443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Unit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This section covers unit files, which are crucial for systemd, and their structure. Unit files are text-based and formatted with sections like [Unit] and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While there are many different unit files, only a handful of them are exam-testable. The next few sections will cover potential issues with the following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25714"/>
            <a:ext cx="5257800" cy="155754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444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Networking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common issue with systemd is that services seem to start all at once, but networking might not be up yet. This is often caused by a firewall starting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network-online.target is the only network-related target unit that ensures services wait until the network is fully up before starting. To make a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network-pre.target is a more passive unit used to order services that rely on the network. You can use the After=network-pre.target directive to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51944"/>
            <a:ext cx="5257800" cy="11050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445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 can configure a systemd service to run as a specific user by specifying the user in the service unit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Specifying a user for a service is often necessary due to configuration needs. While most services have their own user settings, like NGINX, which defines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39920"/>
            <a:ext cx="5257800" cy="112913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446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default.target is a symbolic link to the designated default target unit. To verify if it's set correctly, use the systemctl get-default command.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systemctl get-default shows the default target known to the system. To see the actual linked target, use the ls -l command to check the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default.target is a symlink to graphical.target. If you're encountering target errors, first check this symlink and ensure the target isn't masked or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you find that the graphical.target is masked, you can unmask it using the unmask subcommand.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After unmasking the target, you can verify it with the appropriate command to ensure it's unmasked and available. A reboot may be necessary to ensure …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41836"/>
            <a:ext cx="5257800" cy="92530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447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Multiuser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common issue is when the system boots to a text-only interface instead of the graphical subsystem, typically due to the default target being set to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congures the system to attempt to (if not actually) start and end up with the graphical subsystem as the interface default.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57178"/>
            <a:ext cx="5257800" cy="29461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448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Graphical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If your system boots to a text login instead of the graphical interface, it likely indicates a dependency issue or a problem loading a required service or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rst thing to do is to look at the After= line in the /usr/lib/systemd/system/graphical.target le, which may look like this: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ensure the graphical target is loaded, check that the necessary services and targets are running by using the appropriate command.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Look to see if there are any errors about gdm.service, the GNOME Display Manager, by running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check the status of the gdm.service and related log entries, use journaling logs with the specified command for more detailed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command displays the system journal entries from the latest boot. To view earlier entries, you can reference them in reverse chronological order.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96513"/>
            <a:ext cx="5257800" cy="261595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449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Application Crash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When investigating an application crash, start by checking the system log files for any error messages or clues. On systemd-based systems, it's likely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view recent log entries on a syslog-based system, use the journalctl command with a specified timeframe, such as journalctl --since "5 minutes", to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adjust the journalctl command to view logs from any specified time period, such as "1 hour ago" or "2 days ago." Additionally, when an application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enable core dumps on a systemd-based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As the root user, set the ulimit for crash files to unlimited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Run the sleep command and crash it with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04185"/>
            <a:ext cx="5257800" cy="160060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450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Practice Exams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Access the Practice Exams from the Google Classroom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657" y="1481328"/>
            <a:ext cx="4830165" cy="48463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451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Hardware/storage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High Latency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High latency refers to delays or lag in processing or transmitting data, which can make computing tasks take longer than usual.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High Latency Overview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High latency is often caused by I/O wait time, which measures how long a CPU waits for disk I/O operations to finish. When there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and Fixing High Latency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Three utilities to monitor I/O wait times are: top: Provides an overview of system processes, priorities, and wait times.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Low Throughput Overview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Practically speaking, throughput is how much data can be read or transferred across various system devices and the system bus to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and Fixing Low Throughput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monitor throughput on your system, the following utilities are useful: df: Displays disk space usage and availability, showing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Input/Output Operations per Second Scenarios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IOPS (Input/Output Operations per Second) is a performance metric used to evaluate storage devices like HDDs, SSDs, and SANs. It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452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5.2 | HARDWARE/STORAGE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Hardware/storage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IOPS Overview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IOPS used to be a critical metric when storage relied on spinning disks with read/write heads, as the time to find and access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Scenario 1: Transferring Ten 500MB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this scenario, reading ten 1MB files from a disk would require 10 IOPS. A typical spinning disk can handle about 20 times that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Scenario 2: Transferring 5,000 1MB Files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this scenario, reading 5,000 1MB files would require 5,000 IOPS. A typical spinning disk can handle around 200 IOPS, so it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Why IOPS Are Effectively Irrelevant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IOPS are only relevant for spinning disks, as flash-based storage doesn’t involve seek time. Additionally, using IOPS as a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Capacity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Capacity issues can arise from various factors, some of which may be unfamiliar or difficult to understand for those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and Fixing Capacity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This section focuses on two common capacity issues in Linux: low disk space and inode exhaustion. For a comprehensive view of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453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26 | OBJECTIVE 5.2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26 — Troubleshooting Hardware, Storage, and OS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Deliberately inject common OS and storage failures then diagnose and repair each, keeping every breakage contained to loopback devices, throwaway units, or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Reproduce a full filesystem, inode exhaustion, GRUB validation, a runaway CPU process, a failed systemd unit, a broken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ENOSPC / df -h, inode exhaustion / df -i, grub-mkconfig validation, runaway process / top -bn1, failed systemd unit,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labs/lab-26-*/README.md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454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26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Break: fill a filesystem (ENOSPC)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/mnt/tinyfs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Break: inode exhaustion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df -i /mnt/tinyfs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Validate a GRUB config without committing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grub-mkconfig -o /tmp/grub.cfg.new 2&gt;&amp;1 | tail -n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Break: runaway CPU process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bash -c 'while :; do :; done' &amp;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455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26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Break: a failing systemd unit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[Unit]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Break and recover a broken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( export PATH=/nonexistent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Simulate a memory leak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data = []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Each fault is confirmed by the right counter (df, df -i, top, systemctl status, ps rss) and reversed cleanly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456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05 | OBJECTIVE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5.3 — Networking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Resolve firewall, routing, DNS, and connectivity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troubleshoot networking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457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Subnets with the ip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ip command is sufficient to display most network configuration details, including IP addresses, subnets, and gateway information. It provides similar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the ip command displays its information, you have to parse the output to see what you need, so I recommend using the grep command to filter the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this situation, the subnet mask of /24 (255.255.255.0) indicates a Class C network where the last octet is used for host addresses. A /24 subnet allows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81923"/>
            <a:ext cx="5257800" cy="284513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458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Routes Using the ip route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ip route command focuses on the route portion of your ip command and shows you the information that can be pulled from the /proc and probably /sys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output of the ip route show command provides key details for a properly configured route, starting with the default gateway (e.g., default via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38825"/>
            <a:ext cx="5257800" cy="153132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459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Firewall Refresher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firewall protects a host from harmful traffic, but the challenge is distinguishing between unwanted traffic and legitimate requests that look similar.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For a user's computer to access a web server through a firewall, exceptions must be added to the firewall rules, allowing traffic on ports 80 (HTTP) and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84980"/>
            <a:ext cx="5257800" cy="183901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460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Causes and Symptoms of Firewall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following are possible causes of rewall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Service not 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Incorrect ports being listened 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Incorrect ports for the traffic being allowed or denied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Nonstandard ports being 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Symptoms of rewall issues might include any of the following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461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and Fixing Firewall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Here are a few utilities that can help diagnose firewall issues: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ping: Use to check connectivity with remote hosts, network devices, or gateways.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telnet: Though deprecated, it can still be useful for testing basic connectivity (checking if a port is open).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nmap: Scans IP addresses and ports to detect open ports and services running on a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troubleshoot firewall issues, consider the following techniques: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Temporarily disable the firewall: This can help determine if the firewall is causing the issue.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462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telnet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Telnet can diagnose firewall issues by testing network connectivity and checking if specific ports are open or blocked.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By providing a port number, telnet attempts to establish a connection to the remote system's application on that 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If the connection fails, it may indicate a firewall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Note: Telnet should never be used for remote command-line sessions due to security concerns. It’s only useful for quick checks on remote port responses.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SSH should always be used for secure connections involving sensitive data, instead of Telnet and R-suite utilities.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Telnet is often used initially to test if a system responds on a specific port, such as checking for a web server on port 80.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463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Making Sure Services Are Running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Ensuring that services are running is crucial for diagnosing firewall issues because sometimes the problem isn't the firewall, but rather that the service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Service is running and accepting connections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It's important to check log files to confirm proper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Example: Telnet command with a 400 error should appear in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400 error message from NGINX appears in the access.log file instead of the error.log file. Despite this, it confirms that the service is running, …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90878"/>
            <a:ext cx="5257800" cy="162722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464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ethtool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ethtool command with the -S option provides a user-friendly way to view detailed network interface statistics, offering an easier alternative to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ethtool -S &lt;interfacename&gt; command allows you to view detailed statistics of the network interface card (NIC). You can also filter these stats using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grep command can be used to filter for specific text, such as "drop," in the output of network statistics. In this case, the output shows that there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58223"/>
            <a:ext cx="5257800" cy="109253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465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Diagnosing with the netstat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 can also run the netstat command to identify drops and collisions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kernel interface table provides valuable information about network interfaces, such as enp0s2 (equivalent to eth0 on an Ubuntu VM) and lo (localhost).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07712"/>
            <a:ext cx="5257800" cy="199355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466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Layer 1: Physical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At the physical layer, you're verifying if the cables or wires are present and transmitting signals correctly. The primary tool for checking this is the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check if a network interface is up and connected, look for the "mode" field in the ip link output, where "UP" indicates the interface is active.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ethtool output provides various settings for an interface, but when focusing on link information, you can use grep to filter out the relevant details,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21874"/>
            <a:ext cx="5257800" cy="176522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467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Layer 2: Data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At this layer, the focus is on determining if the device can see other devices on the network. If it cannot, it might be due to a VLAN issue or being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check the ARP table, you can use the arp command or the ip neighbor show command to query the devices on the local network and verify connectivity.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output shows that there is a host that is reachable by the example host, and given the IP address, it’s probably a gateway (and in this case it is).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As suspected, this is a gateway, and it’s known that way to the ARP table and arp command. You can have it display the IP address instead of _gateway in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50670"/>
            <a:ext cx="5257800" cy="70763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468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Running a Vulnerability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In this section, after identifying open ports and running services, the next step is to perform a vulnerability scan on the target host. This scan checks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vulnerability scan with NMAP not only identifies existing vulnerabilities but also provides links to resources explaining how to fix them. It's a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73552"/>
            <a:ext cx="5257800" cy="126187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469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Opening an SSL Connection to a Host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open an SSL connection to a host and get a lot of useful information 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 can parse through the extensive output from the s_client query to observe the response. You can either use the available commands to interact with the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54093"/>
            <a:ext cx="5257800" cy="30078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470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Showing SSL Certificates on a Host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show the entire certificate chain for a given host.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You’ll see the certificate information listed; just parse through it to nd out more about the host and its certificate(s).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799332"/>
            <a:ext cx="5257800" cy="210312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471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Testing a Particular TLS Version on a Host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check if a specific TLS version is available on a host, you can use the relevant command to query that information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output confirms that the correct TLS version information is displayed in the SSL-Session block, verifying the availability of the desired TLS version.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810899"/>
            <a:ext cx="5257800" cy="2187176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472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Networking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Network Configuration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Linux offers auto-configuration tools to help connect network devices to Ethernet or Wi-Fi. The main causes of network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Causes and Symptoms of Network Configuration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most likely causes of network configuration issues are Subnet 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and Fixing Network Configuration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ip command is the primary tool for viewing your network configuration. It's versatile and offers various subfunctions, with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Routes Using the ping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You will sometimes need to troubleshoot the route that your system takes to reach a remote network location. One method of doing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Routes Using the traceroute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Traceroute is a reliable diagnostic tool, though its effectiveness has diminished on the wide area network (WAN) or Internet due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Firewall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This section offers a quick refresher on firewalls, focusing mainly on how misconfigurations can impact the traffic allowed to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473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5.3 |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Networking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What Could Possibly Go Wrong?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While firewall configuration issues are complex, for the Linux+ exam, it's important to understand key problems that can arise,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with the ping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ping command is essential in Linux for network troubleshooting. It sends packets to a specific IP address and waits for a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Interface Errors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An interface error is a problem that occurs on a network interface, which can be a physical port or a virtual interface. These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Dropped Packets and Collisions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Dropped packets occur when data fails to transmit between devices on a network, while network collisions happen when multiple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and Fixing Issues Related to Dropped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diagnose and resolve dropped packet and collision issues, you can use these utilities: ethtool: A versatile command that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Diagnosing with the /sys/class/net//statistics …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/sys/net/class/&lt;device&gt;/statistics directory contains more detailed and less user-friendly data on dropped packets and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474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27 | OBJECTIVE 5.3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27 — Troubleshooting Network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Break and repair the common network faults (DNS, routing, firewall, MTU, IP, link, dual-stack) while practicing the standard L3/L4 triage toolkit.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Baseline the host, then inject DNS, gateway, firewall, MTU, duplicate-IP, and link-down faults, and finish with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ip addr / ip route baseline, resolv.conf / dig, default gateway, ufw port block, MTU / ping -M do, duplicate IP / arping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labs/lab-27-*/README.md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475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27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Baseline and install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Break: DNS, then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cp /etc/resolv.conf /tmp/resolv.conf.bak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Break: default gateway, then revert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ORIG=$(ip route show default)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Break: firewall blocks a 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ufw --force enable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476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27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Break: MTU mismatch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IF=$(ip -br link | awk '$1!="lo" &amp;&amp; $2=="UP" {print $1; exit}')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Break: duplicate IP and link down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IF=$(ip -br link | awk '$1!="lo" &amp;&amp; $2=="UP" {print $1; exit}')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IPv4 vs IPv6 and capture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curl -4 -s --max-time 3 https://ifconfig.co || 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Each single-variable fault produces its expected symptom and reverts cleanly, and IPv4/IPv6 plus capture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477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05 | OBJECTIVE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5.4 —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Fix SELinux, permission, and vulnerability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troubleshoot security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478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5.4 |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ID Please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id command displays a wealth of information about any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values to check for a user’s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uid (User ID): The user's ID, as configured in the /etc/passwd or other name services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gid (Primary Group ID): The group ID used as the Group Owner for files or directories created by this account.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groups (Secondary Groups): Lists the groups the user is a member of, apart from the primary 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What you’re looking for here is anything out of the ordinary, and especially if you don’t recall making any changes.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67447"/>
            <a:ext cx="5257800" cy="1074081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479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5.4 |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Get 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getent command is useful for querying databases like /etc/passwd or /etc/shadow to return information about user accounts and other system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getent command querying the /etc/passwd file for the "rossb" account yields the same information as using the grep command to search for that user in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second query to the /etc/shadow file requires root privileges, as it is not publicly accessible. Running it without sudo would result in a blank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In the /etc/shadow file, the presence of an exclamation mark (!) in the password column indicates that the user has no password set, which could be the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39920"/>
            <a:ext cx="5257800" cy="112913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480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5.4 |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The lastlog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lastlog command provides information about users' login status, including the date and time of their last login, the port they logged in from, and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This is very useful, but there is a trick you can pull using the grep command that will allow you to determine only who has logged in, screening out all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lastlog command provides valuable insights by allowing you to easily identify which user accounts have successfully logged in, and helps pinpoint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03461"/>
            <a:ext cx="5257800" cy="160205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481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5.4 |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Group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Group issues can be more challenging to troubleshoot than user login problems, as they can impact multiple users in various ways. One common issue is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find out which groups a user is a member of, you can use the groups or id command with the username as an argument.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check if the proper group has access to a resource, inspect the ls -l output (or ls -ld for directories) and ensure the group has at least read (r) …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480750"/>
            <a:ext cx="5257800" cy="847474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482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5.4 |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Attribute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File attributes are special settings on filesystem objects, like "append only," which prevents overwriting, or "noatime," which stops access times from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three times—Access (atime), Modify (mtime), and Change (ctime)—appear at the bottom of the output. To view special attributes on a filesystem object,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file le1 has attributes like "do not dump," "no atime updates," and "extent format" set. Other notable attributes include: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 (Secure Updates): Ensures secure file deletion by overwriting the file's disk resources.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d (No Dump): Prevents the file from being backed up during the dump 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 (Immutable): Makes the file unchangeable unless set back to mutable.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02829"/>
            <a:ext cx="5257800" cy="240331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483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5.4 |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Quota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Quotas are largely outdated today. They were crucial when disks were smaller, more expensive, and shared by large numbers of users, such as in colleges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main issue with quotas isn't how the system works, but users' understanding of it. Hard and soft limits often cause confusion, as they are not clearly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output of the edquota ross command, which we’ll use to try to make more sense of what is going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first column shows the filesystem with quotas enabled. The second column displays the number of disk blocks the user is using, while the third and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377858"/>
            <a:ext cx="5257800" cy="105325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484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5.4 |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Security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User Login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Chapter 9, "Implementing Identity Management," covers the user login process, user and group management, and common login issues.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Inspecting Account Details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troubleshoot a user's login issues, start by checking the user's account details. Run the commands id, getent, and last to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Case-Sensitivity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Case sensitivity in Linux is crucial; even a single change in uppercase or lowercase characters can significantly affect system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Has the User Ever Logged In?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Knowing whether a user has logged in can be crucial for troubleshooting login issues, especially when the user is new or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last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last command provides a reverse chronological list of system activity, showing who signed in, from which port, and what they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User File Access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As a system administrator, you'll need to troubleshoot file access issues for users, which can be caused by factors like group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485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5.4 |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Security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Context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Context issues related to AppArmor or SELinux can be challenging to troubleshoot. For more details on how these security context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Permission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Permissions in Linux are simpler than in Windows, which often leads to confusion. While Windows applies and manages permissions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ACL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For a detailed explanation of access control list (ACL) issues, including how ACLs work, how they are used, and how to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Policy/Non-Policy Issue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Linux+ objectives are vague about specific user file access issues, but "silent access issues" are a common challenge, often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Password Issues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Aside from the common issue of users forgetting their passwords, two other password-related problems are common. One is when a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The faillog Command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faillog command is highly recommended for daily use, and it can be configured to send its output via email. It can be run by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486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28 | OBJECTIVE 5.4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28 — Troubleshooting Security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Diagnose and repair security faults spanning SELinux contexts, POSIX ACLs, certificate trust, account lockout, broken repos, and weak TLS, using a Rocky container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Pull a Rocky container for SELinux practice, then break and fix ACLs, CA trust, pam_faillock lockout, a bad apt repo,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SELinux context / chcon / restorecon, AVC denials / ausearch / audit2allow, POSIX ACL / getfacl / setfacl, CA trust /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labs/lab-28-*/README.md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487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28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Prep host and pull a Rocky container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Break: SELinux context, then restorecon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docker exec selab bash -c 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Inspect AVC denials with audit2allow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docker exec selab bash -c 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Break: ACL on Ubuntu host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useradd -m alice 2&gt;/dev/null || 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488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28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Break: certificate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mkdir -p /tmp/ca &amp;&amp; cd /tmp/ca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Break: account lockout with pam_faillock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auth required pam_faillock.so preauth deny=3 unlock_time=120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Break: misconfigured apt repo and weak TLS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'deb http://no.such.host.invalid/ubuntu jammy main' &gt; /etc/apt/sources.list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restorecon fixes SELinux type, getfacl/setfacl explains hidden ACL denials, the CA trust bundle rebuilds,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489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DOMAIN 05 | OBJECTIVE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31B2A"/>
                </a:solidFill>
                <a:latin typeface="Arial"/>
              </a:rPr>
              <a:t>5.5 —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Analyze CPU, memory, I/O, and optimize response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813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Exam objective — Given a scenario, troubleshoot performance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58184"/>
            <a:ext cx="10972800" cy="813816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58184"/>
            <a:ext cx="73152" cy="813816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58184"/>
            <a:ext cx="1046988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Hands-on — Lab 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8920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08C95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490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Removing Zombie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A zombie process can be removed by sending a particular signal to the parent process, such as shown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the SIGCHLD signal is sent to the parent process, it prompts the parent to "reap" or clean up any zombie child processes, which may or may not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63541"/>
            <a:ext cx="5257800" cy="481893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491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Viewing System Load Details with the uptime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One of the easiest ways to get the load numbers is to run the uptime command, which will bring back a series of numbers and other information such as that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uptime command output shows: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Current system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System uptime (e.g., 13 minutes)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Number of 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5742432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5239512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Three load averages: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60278"/>
            <a:ext cx="5257800" cy="688419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492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High Run Queues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High run queue occurs when there are too many processes waiting to be executed by the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Causes of high run queues: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Too many processes running, overwhelming the CPU.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I/O bottlenecks preventing the kernel from scheduling new processes.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Memory pressure when there isn’t enough available memory for new processes.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CPU bottlenecks slowing down process scheduling.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493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Viewing System Load Details with the tload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tload command offers a graphical, text-based display of system load, but initially shows less information than the uptime command. It doesn't display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To get useful output from tload, use the -s option to display a side-scrolling graph that visually represents the system load, with asterisks indicating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When using tload with the -s option, a series of asterisks will appear at the bottom left of the screen and move from left to right, representing the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user's computer needs to access a web server, but a firewall is blocking the request by default. The tload command shows system load at specified …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542475"/>
            <a:ext cx="5257800" cy="72402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494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Measuring CPU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To measure CPU utilization, you can use commands like top (covered elsewhere) and time. The time command is particularly useful as it measures how long a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time command measures how long a command takes to run in real time, showing how much of that time is spent in user space versus system (kernel) space.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29638"/>
            <a:ext cx="5257800" cy="174969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495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Memory Exhaustion and Out of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Memory exhaustion occurs when a system runs out of both physical RAM and swap space. Swap space, which can be a swap file or a dedicated partition, acts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Memory exhaustion occurs when a system continuously runs out of available memory, even with ample swap space. Eventually, the system becomes overwhelmed,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Memory exhaustion typically causes the system to become sluggish and unresponsive before any error messages appear. Users may experience interface and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A Linux system uses a combination of memory, swap (on disk or filesystem), and physical RAM, which can be confusing at times. The upcoming section on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file cache is a memory area used to store recently accessed files, allowing the kernel to access them more quickly without reading from disk each …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924073"/>
            <a:ext cx="5257800" cy="196083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496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Swap, Caching, and Buffers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free command provides detailed information about the system's memory usage, including free and used physical memory, swap space, and the amount of RAM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Unused system RAM is allocated for useful purposes like cache and buffers, allowing processes to have fully loaded working sets for efficient operation.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34319"/>
            <a:ext cx="5257800" cy="1540337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497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How Much Swap Is Enough?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Choosing the best swap size can vary, much like debating which car is better. Over the years, recommendations have changed frequently. Table 20-2 offers a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While the table provides helpful guidance, determining the right amount of swap can still be unclear in some cases. The Hibernation column is specifically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31330"/>
            <a:ext cx="5257800" cy="2346315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498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Viewing CPU Info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lscpu command retrieves CPU information from /sys and /proc/cpuinfo and formats it for easier reading. Since it produces extensive output, it's often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The -C option for the lscpu command is particularly useful for displaying information about the various levels of CPU caches. This option provides …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38243"/>
            <a:ext cx="5257800" cy="1732488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499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Viewing Memory Info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5742432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523951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The lsmem command reads system memory information from /sys and /proc/meminfo and presents it in a more understandable format. While the output is 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15237"/>
            <a:ext cx="5257800" cy="1778500"/>
          </a:xfrm>
          <a:prstGeom prst="rect">
            <a:avLst/>
          </a:prstGeom>
          <a:ln w="12700">
            <a:solidFill>
              <a:srgbClr val="D9E2E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500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Performance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Runaway Processes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 runaway process is a malfunctioning or potentially malicious process that replicates itself, consuming excessive CPU resources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What Causes Runaway Processes?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Typically, a program creates processes that are terminated when the main program exits. However, in Linux, issues can arise with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Reserving Some CPU for Non-Realtime Processes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In the /proc directory, two files help reserve CPU time for non-realtime or non-deadline processes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Identifying a Runaway Process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 runaway process can make a system unresponsive, making it hard to input commands. To identify such processes, you can use the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Ending a Runaway Process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To end a runaway process, you can use the built-in "kill" options in top or htop. Highlight the process and press F9 to send a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Zombie Processes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Processes have a parent process (PPID) and often child processes. A "zombie" process, marked with a "Z" in commands like top,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501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OBJECTIVE 5.5 |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Performance — More 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What Causes Zombie Processes?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 zombie process doesn't handle its termination. Instead, it notifies its parent process, which is responsible for removing its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Are Zombie Processes Bad?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Zombie processes are generally harmless in small numbers, as they only take up minimal memory. However, if there are many zombie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High CPU Utilization/Load Average/Run Queues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CPU performance is crucial for system usability. Monitoring CPU utilization helps identify overuse, which could prompt moving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High CPU Utilization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High CPU utilization can be caused by several factors, such as resource-heavy processes, poorly written programs, memory leaks,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High Load Average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The load average represents the amount of CPU utilization on a Linux system, reflecting the number of processes currently being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486156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CPU Times and CPU Process Priorities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CPU time refers to the actual time a task spends using the CPU, while elapsed time is the total time from the start to the end of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502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29 | OBJECTIVE 5.5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29 — Troubleshooting Performance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Stress CPU, memory, disk I/O, and network in turn, then walk the universal performance loop: baseline, spike, identify the bottleneck with the right counter, and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Install stress-ng, fio, and sysstat, baseline the host, then generate controlled CPU, memory, disk, and network spikes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baseline: uptime/free/vmstat/mpstat, stress-ng CPU spike / load average, memory pressure / vmstat si-so, fio disk storm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labs/lab-29-*/README.md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503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29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Install the toolkit and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Generate and observe a CPU spike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stress-ng --cpu 4 --timeout 30 &amp;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Memory pressure and swap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free -m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Disk I/O storm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fio --name=lab --rw=randwrite --bs=4k --size=128M --runtime=20 --time_based 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504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29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Network jitter and blocked processes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ping -i 0.2 -c 20 8.8.8.8 | tail -n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Context switches and interactive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pidstat -w 1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Walk the full loop on a synthetic incident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echo "BASELINE:"; uptime; free -m | head -n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Each spike maps to its diagnostic counter (load vs mpstat, si/so vs free, %util vs await) and the triage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505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LAB 30 | OBJECTIVE CAPSTONE |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Lab 30 — Capstone: End-to-End Server Build and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1078992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82496"/>
            <a:ext cx="104241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1">
                <a:solidFill>
                  <a:srgbClr val="FFFFFF"/>
                </a:solidFill>
                <a:latin typeface="Arial"/>
              </a:rPr>
              <a:t>Integrate Objectives 1-5 into one coherent build: a hardened admin account, LVM storage, nginx with a systemd override, a locked firewall, a health-check timer, and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834640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834640"/>
            <a:ext cx="73152" cy="7863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You'll build — Provision webops with hardened SSH, build LVM-backed /srv/web, deploy nginx, lock ufw to web ports, add a health-check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30752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730752"/>
            <a:ext cx="73152" cy="786384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30752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Key commands — hardened SSH / narrow sudo, LVM: pvcreate/vgcreate/lvcreate, systemd drop-in override, ufw default-deny allowlist,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26864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4626864"/>
            <a:ext cx="73152" cy="786384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26864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Workbench — Killercoda Ubuntu Playground, free in the browser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522976"/>
            <a:ext cx="10972800" cy="786384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522976"/>
            <a:ext cx="73152" cy="786384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22976"/>
            <a:ext cx="104698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Full walkthrough — labs/lab-30-*/README.md on the course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506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30 | STEP-BY-STEP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1 — Provision a user and harden SSH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apt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2 — Build LVM-backed /srv/web over loopback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dd if=/dev/zero of=/var/lab-pv.img bs=1M count=200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3 — Install nginx with a systemd override binding /srv/web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rm -f /etc/nginx/sites-enabled/default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4637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4 — Firewall: allow only 80/443 and SSH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742432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769864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ufw --force reset &gt;/dev/null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507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6FEB"/>
                </a:solidFill>
                <a:latin typeface="Arial"/>
              </a:rPr>
              <a:t>LAB 30 | STEP-BY-STEP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04470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7335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5 — Health-check script with a systemd timer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169414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6846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set -euo pipefail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91206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791206"/>
            <a:ext cx="73152" cy="104470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6435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6 — Commit /etc/nginx to a local git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60420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387852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cd /etc/nginx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982212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3982212"/>
            <a:ext cx="73152" cy="1044702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55364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31B2A"/>
                </a:solidFill>
                <a:latin typeface="Arial"/>
              </a:rPr>
              <a:t>Step 7 — Inject a fault and triage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551426"/>
            <a:ext cx="10378440" cy="365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78858"/>
            <a:ext cx="1005840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CDCFE"/>
                </a:solidFill>
                <a:latin typeface="Consolas"/>
              </a:rPr>
              <a:t>$ systemctl stop nginx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173218"/>
            <a:ext cx="10972800" cy="1044702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173218"/>
            <a:ext cx="73152" cy="1044702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73218"/>
            <a:ext cx="10515600" cy="10447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✅ Verify — After remediation curl returns the Capstone page with a 200, confirming the full build and the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508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DOMAIN 05 |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Recap —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25 — Monitoring Concepts and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357628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357628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57628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26 — Troubleshooting Hardware, Storage, and OS 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179064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179064"/>
            <a:ext cx="73152" cy="71170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179064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27 — Troubleshooting Network Connectivity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000500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000500"/>
            <a:ext cx="73152" cy="71170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00500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28 — Troubleshooting Security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21936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21936"/>
            <a:ext cx="73152" cy="7117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821936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29 — Troubleshooting Performance Issues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643372"/>
            <a:ext cx="10972800" cy="71170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5643372"/>
            <a:ext cx="73152" cy="71170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643372"/>
            <a:ext cx="10469880" cy="7117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Lab 30 — Capstone: End-to-End Server Build and 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509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DAD7"/>
                </a:solidFill>
                <a:latin typeface="Arial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Wrap-Up &amp;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75887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D7E0EA"/>
                </a:solidFill>
                <a:latin typeface="Arial"/>
              </a:rPr>
              <a:t>Summary | exam registration | practice exam |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75504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6DDAD7"/>
                </a:solidFill>
                <a:latin typeface="Arial"/>
              </a:rPr>
              <a:t>Type it, break it, fix it — the exam rewards hands that have done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510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WHAT YOU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Learning Outcomes — Revisited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LO1 — System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Boot &amp; FHS, kernel modules, LVM storage, networking, shell, backup, virtualization.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LO2 — Services &amp; User Management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Files, accounts, processes, packages, systemd services, containers.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LO3 — Security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AAA/sudo/PAM, firewalls, OS &amp; account hardening, cryptography, compliance &amp;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LO4 — Automation &amp; Scripting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Ansible IaC, Bash, Python, Git version control, responsible AI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LO5 — Troubleshooting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Monitoring, and storage / network / security / performance triage.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511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Preparing for the Linux+ XK0-006 Exam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Redo every lab on Killercoda until the commands are automatic.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Review each lab's Verify takeaway and the Learner Guide.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Know which tool solves which problem — the exam is scenario-based.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Up to 90 questions (multiple-choice + performance-based) in 90 minutes; pass 720/900.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53400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5340096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40096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Book through Pearson VUE from your CompTIA 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512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GET CERTIFIED | XK0-006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CompTIA Linux+ Exam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01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8611" y="2441448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861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61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Create your CompTIA account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6555" y="3268980"/>
            <a:ext cx="237744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5429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18891" y="2441448"/>
            <a:ext cx="411480" cy="411480"/>
          </a:xfrm>
          <a:prstGeom prst="ellipse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889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889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Buy the XK0-006 voucher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6835" y="3268980"/>
            <a:ext cx="237744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457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59171" y="2441448"/>
            <a:ext cx="411480" cy="411480"/>
          </a:xfrm>
          <a:prstGeom prst="ellipse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917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917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Schedule at Pearson VUE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7115" y="3268980"/>
            <a:ext cx="237744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3485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9451" y="2441448"/>
            <a:ext cx="411480" cy="411480"/>
          </a:xfrm>
          <a:prstGeom prst="ellipse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945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945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Sit the exam — 90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7395" y="3268980"/>
            <a:ext cx="237744" cy="1828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75139" y="2240280"/>
            <a:ext cx="2002536" cy="20574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39731" y="2441448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9731" y="2459736"/>
            <a:ext cx="411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9731" y="3044952"/>
            <a:ext cx="16733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Claim your digital badge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846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C6677"/>
                </a:solidFill>
                <a:latin typeface="Arial"/>
              </a:rPr>
              <a:t>Voucher: https://store.comptia.org   ·   Schedule: https://home.pearsonvue.com/comptia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513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REGISTER FOR THE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Exam Registration — Links &amp;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Exam voucher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CompTIA Store: https://store.comptia.org  (or through Tertiary Infotech)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144780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Schedule the exam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Pearson VUE: https://home.pearsonvue.com/comptia — test centre or online proctored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230880"/>
            <a:ext cx="73152" cy="14478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Format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XK0-006 · up to 90 questions · 90 minutes · passing score 720 (scale 100–900)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3088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3230880"/>
            <a:ext cx="73152" cy="144780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32232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Question types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Multiple-choice + performance-based items (live Linux tasks)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861560"/>
            <a:ext cx="5358384" cy="144780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861560"/>
            <a:ext cx="73152" cy="1447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953000"/>
            <a:ext cx="4901184" cy="1301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On exam day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Two forms of ID at a test centre · check online-testing system requirements for remote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514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TEST YOURSELF | EXAMS.TERTIARYINFOTECH.COM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Practice Exam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00200"/>
            <a:ext cx="5358384" cy="22631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600200"/>
            <a:ext cx="73152" cy="2263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4901184" cy="21168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Sharpen your readiness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Attempt the Tertiary Infotech CompTIA Linux+ practice exam under timed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00200"/>
            <a:ext cx="5358384" cy="22631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600200"/>
            <a:ext cx="73152" cy="226314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01184" cy="21168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Practice exam link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https://exams.tertiaryinfotech.com/practice-exams/comptia/comptia-linux-plus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046220"/>
            <a:ext cx="5358384" cy="22631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046220"/>
            <a:ext cx="73152" cy="226314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137660"/>
            <a:ext cx="4901184" cy="21168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Review every explanation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Wrong answers are the syllabus for your next study session.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046220"/>
            <a:ext cx="5358384" cy="22631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4046220"/>
            <a:ext cx="73152" cy="2263140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37660"/>
            <a:ext cx="4901184" cy="21168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31B2A"/>
                </a:solidFill>
                <a:latin typeface="Arial"/>
              </a:rPr>
              <a:t>Close the gaps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C6677"/>
                </a:solidFill>
                <a:latin typeface="Arial"/>
              </a:rPr>
              <a:t>Revisit any lab whose domain you miss, then re-take the practice exam.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515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08C95"/>
                </a:solidFill>
                <a:latin typeface="Arial"/>
              </a:rPr>
              <a:t>COURSE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31B2A"/>
                </a:solidFill>
                <a:latin typeface="Arial"/>
              </a:rPr>
              <a:t>Course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3619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36192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31B2A"/>
                </a:solidFill>
                <a:latin typeface="Arial"/>
              </a:rPr>
              <a:t>Your feedback shapes this course — please complete the feedback form before you leave.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48716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487168"/>
            <a:ext cx="73152" cy="841248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Scan the feedback QR code displayed by the trainer, or use the link emailed to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43814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438144"/>
            <a:ext cx="73152" cy="841248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38144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Tell us what worked and what did not — be specific about labs, pace and depth.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38912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 w="9525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4389120"/>
            <a:ext cx="73152" cy="841248"/>
          </a:xfrm>
          <a:prstGeom prst="rect">
            <a:avLst/>
          </a:prstGeom>
          <a:solidFill>
            <a:srgbClr val="E6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046988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1B2A"/>
                </a:solidFill>
                <a:latin typeface="Arial"/>
              </a:rPr>
              <a:t>Your certificate of completion will be emailed to you after the course.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5C6677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5C6677"/>
                </a:solidFill>
                <a:latin typeface="Arial"/>
              </a:rPr>
              <a:t>516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217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F42C1"/>
                </a:solidFill>
                <a:latin typeface="Arial"/>
              </a:rP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32520" y="68580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96012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749807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You are ready to administer Linux.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7315200" cy="82296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526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D7E0EA"/>
                </a:solidFill>
                <a:latin typeface="Arial"/>
              </a:rPr>
              <a:t>Thank you — and all the best for the CompTIA Linux+ XK0-006 exam. Register for the exam, take the practice test, and keep every lab within arm's reach: https://github.com/tertiarycourses/C1162-CompTIA-LinuxPlus-Training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7150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F42C1"/>
                </a:solidFill>
                <a:latin typeface="Arial"/>
              </a:rPr>
              <a:t>SEE YOU AT THE EXAM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80" b="0" i="0">
                <a:solidFill>
                  <a:srgbClr val="D7E0EA"/>
                </a:solidFill>
                <a:latin typeface="Arial"/>
              </a:rPr>
              <a:t>CompTIA Linux+ Training | C1162 | 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 i="0">
                <a:solidFill>
                  <a:srgbClr val="D7E0EA"/>
                </a:solidFill>
                <a:latin typeface="Arial"/>
              </a:rPr>
              <a:t>517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